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ptos Bold" charset="1" panose="020B0004020202020204"/>
      <p:regular r:id="rId18"/>
    </p:embeddedFont>
    <p:embeddedFont>
      <p:font typeface="Aptos" charset="1" panose="020B0004020202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172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452186" y="823608"/>
            <a:ext cx="3568951" cy="3568951"/>
            <a:chOff x="0" y="0"/>
            <a:chExt cx="4758601" cy="47586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58563" cy="4758563"/>
            </a:xfrm>
            <a:custGeom>
              <a:avLst/>
              <a:gdLst/>
              <a:ahLst/>
              <a:cxnLst/>
              <a:rect r="r" b="b" t="t" l="l"/>
              <a:pathLst>
                <a:path h="4758563" w="4758563">
                  <a:moveTo>
                    <a:pt x="0" y="2379345"/>
                  </a:moveTo>
                  <a:cubicBezTo>
                    <a:pt x="0" y="1065276"/>
                    <a:pt x="1065276" y="0"/>
                    <a:pt x="2379345" y="0"/>
                  </a:cubicBezTo>
                  <a:cubicBezTo>
                    <a:pt x="3693414" y="0"/>
                    <a:pt x="4758563" y="1065276"/>
                    <a:pt x="4758563" y="2379345"/>
                  </a:cubicBezTo>
                  <a:cubicBezTo>
                    <a:pt x="4758563" y="3693414"/>
                    <a:pt x="3693287" y="4758563"/>
                    <a:pt x="2379345" y="4758563"/>
                  </a:cubicBezTo>
                  <a:cubicBezTo>
                    <a:pt x="1065403" y="4758563"/>
                    <a:pt x="0" y="3693287"/>
                    <a:pt x="0" y="2379345"/>
                  </a:cubicBezTo>
                  <a:close/>
                </a:path>
              </a:pathLst>
            </a:custGeom>
            <a:solidFill>
              <a:srgbClr val="2457C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687598" y="4529823"/>
            <a:ext cx="2059010" cy="2059010"/>
            <a:chOff x="0" y="0"/>
            <a:chExt cx="2745346" cy="27453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45359" cy="2745359"/>
            </a:xfrm>
            <a:custGeom>
              <a:avLst/>
              <a:gdLst/>
              <a:ahLst/>
              <a:cxnLst/>
              <a:rect r="r" b="b" t="t" l="l"/>
              <a:pathLst>
                <a:path h="2745359" w="2745359">
                  <a:moveTo>
                    <a:pt x="0" y="1372616"/>
                  </a:moveTo>
                  <a:cubicBezTo>
                    <a:pt x="0" y="614553"/>
                    <a:pt x="614553" y="0"/>
                    <a:pt x="1372616" y="0"/>
                  </a:cubicBezTo>
                  <a:cubicBezTo>
                    <a:pt x="2130679" y="0"/>
                    <a:pt x="2745359" y="614553"/>
                    <a:pt x="2745359" y="1372616"/>
                  </a:cubicBezTo>
                  <a:cubicBezTo>
                    <a:pt x="2745359" y="2130679"/>
                    <a:pt x="2130806" y="2745359"/>
                    <a:pt x="1372616" y="2745359"/>
                  </a:cubicBezTo>
                  <a:cubicBezTo>
                    <a:pt x="614426" y="2745359"/>
                    <a:pt x="0" y="2130806"/>
                    <a:pt x="0" y="1372616"/>
                  </a:cubicBezTo>
                  <a:close/>
                </a:path>
              </a:pathLst>
            </a:custGeom>
            <a:solidFill>
              <a:srgbClr val="16865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942245" y="6588824"/>
            <a:ext cx="1372676" cy="1372676"/>
            <a:chOff x="0" y="0"/>
            <a:chExt cx="1830235" cy="183023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30324" cy="1830324"/>
            </a:xfrm>
            <a:custGeom>
              <a:avLst/>
              <a:gdLst/>
              <a:ahLst/>
              <a:cxnLst/>
              <a:rect r="r" b="b" t="t" l="l"/>
              <a:pathLst>
                <a:path h="1830324" w="1830324">
                  <a:moveTo>
                    <a:pt x="0" y="915162"/>
                  </a:moveTo>
                  <a:cubicBezTo>
                    <a:pt x="0" y="409702"/>
                    <a:pt x="409702" y="0"/>
                    <a:pt x="915162" y="0"/>
                  </a:cubicBezTo>
                  <a:cubicBezTo>
                    <a:pt x="1420622" y="0"/>
                    <a:pt x="1830324" y="409702"/>
                    <a:pt x="1830324" y="915162"/>
                  </a:cubicBezTo>
                  <a:cubicBezTo>
                    <a:pt x="1830324" y="1420622"/>
                    <a:pt x="1420622" y="1830324"/>
                    <a:pt x="915162" y="1830324"/>
                  </a:cubicBezTo>
                  <a:cubicBezTo>
                    <a:pt x="409702" y="1830324"/>
                    <a:pt x="0" y="1420495"/>
                    <a:pt x="0" y="915162"/>
                  </a:cubicBezTo>
                  <a:close/>
                </a:path>
              </a:pathLst>
            </a:custGeom>
            <a:solidFill>
              <a:srgbClr val="E5A000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03350" y="1546517"/>
            <a:ext cx="10359161" cy="613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AAC6FF"/>
                </a:solidFill>
                <a:latin typeface="Aptos Bold"/>
                <a:ea typeface="Aptos Bold"/>
                <a:cs typeface="Aptos Bold"/>
                <a:sym typeface="Aptos Bold"/>
              </a:rPr>
              <a:t>PYTHON PROJECT PRESENTATION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62164" y="2644654"/>
            <a:ext cx="10633691" cy="1848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CONTACT BOOK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44527" y="4635027"/>
            <a:ext cx="9672818" cy="1230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3"/>
              </a:lnSpc>
            </a:pPr>
            <a:r>
              <a:rPr lang="en-US" sz="3452">
                <a:solidFill>
                  <a:srgbClr val="DEE7F7"/>
                </a:solidFill>
                <a:latin typeface="Aptos"/>
                <a:ea typeface="Aptos"/>
                <a:cs typeface="Aptos"/>
                <a:sym typeface="Aptos"/>
              </a:rPr>
              <a:t>A simple desktop application to manage contacts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71978" y="7723537"/>
            <a:ext cx="9261024" cy="750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Python • Tkinter • SQLite • REST API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71978" y="9164850"/>
            <a:ext cx="884922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CDD7EB"/>
                </a:solidFill>
                <a:latin typeface="Aptos"/>
                <a:ea typeface="Aptos"/>
                <a:cs typeface="Aptos"/>
                <a:sym typeface="Aptos"/>
              </a:rPr>
              <a:t>Presented by: Saima Zainuddin  Shaikh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219627"/>
            <a:chOff x="0" y="0"/>
            <a:chExt cx="24402453" cy="2928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292862"/>
            </a:xfrm>
            <a:custGeom>
              <a:avLst/>
              <a:gdLst/>
              <a:ahLst/>
              <a:cxnLst/>
              <a:rect r="r" b="b" t="t" l="l"/>
              <a:pathLst>
                <a:path h="292862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92862"/>
                  </a:lnTo>
                  <a:lnTo>
                    <a:pt x="0" y="292862"/>
                  </a:lnTo>
                  <a:close/>
                </a:path>
              </a:pathLst>
            </a:custGeom>
            <a:solidFill>
              <a:srgbClr val="2457C5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28811" y="613096"/>
            <a:ext cx="16124387" cy="681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72B4D"/>
                </a:solidFill>
                <a:latin typeface="Aptos Bold"/>
                <a:ea typeface="Aptos Bold"/>
                <a:cs typeface="Aptos Bold"/>
                <a:sym typeface="Aptos Bold"/>
              </a:rPr>
              <a:t>Project Overview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69997" y="1409252"/>
            <a:ext cx="15849848" cy="338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5C6B80"/>
                </a:solidFill>
                <a:latin typeface="Aptos"/>
                <a:ea typeface="Aptos"/>
                <a:cs typeface="Aptos"/>
                <a:sym typeface="Aptos"/>
              </a:rPr>
              <a:t>What the Contact Book application does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783183" y="9755095"/>
            <a:ext cx="613181" cy="201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5C6B80"/>
                </a:solidFill>
                <a:latin typeface="Aptos"/>
                <a:ea typeface="Aptos"/>
                <a:cs typeface="Aptos"/>
                <a:sym typeface="Aptos"/>
              </a:rPr>
              <a:t>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71978" y="2301488"/>
            <a:ext cx="15438044" cy="1299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3"/>
              </a:lnSpc>
            </a:pPr>
            <a:r>
              <a:rPr lang="en-US" sz="3452">
                <a:solidFill>
                  <a:srgbClr val="233044"/>
                </a:solidFill>
                <a:latin typeface="Aptos"/>
                <a:ea typeface="Aptos"/>
                <a:cs typeface="Aptos"/>
                <a:sym typeface="Aptos"/>
              </a:rPr>
              <a:t>Contact Book is a desktop application that helps users store, view, search, update, and delete contact details from one place.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228258" y="4316768"/>
            <a:ext cx="5024552" cy="3102807"/>
            <a:chOff x="0" y="0"/>
            <a:chExt cx="6699402" cy="41370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99377" cy="4137025"/>
            </a:xfrm>
            <a:custGeom>
              <a:avLst/>
              <a:gdLst/>
              <a:ahLst/>
              <a:cxnLst/>
              <a:rect r="r" b="b" t="t" l="l"/>
              <a:pathLst>
                <a:path h="4137025" w="6699377">
                  <a:moveTo>
                    <a:pt x="0" y="689483"/>
                  </a:moveTo>
                  <a:cubicBezTo>
                    <a:pt x="0" y="308737"/>
                    <a:pt x="308737" y="0"/>
                    <a:pt x="689483" y="0"/>
                  </a:cubicBezTo>
                  <a:lnTo>
                    <a:pt x="6009894" y="0"/>
                  </a:lnTo>
                  <a:cubicBezTo>
                    <a:pt x="6390767" y="0"/>
                    <a:pt x="6699377" y="308737"/>
                    <a:pt x="6699377" y="689483"/>
                  </a:cubicBezTo>
                  <a:lnTo>
                    <a:pt x="6699377" y="3447542"/>
                  </a:lnTo>
                  <a:cubicBezTo>
                    <a:pt x="6699377" y="3828415"/>
                    <a:pt x="6390640" y="4137025"/>
                    <a:pt x="6009894" y="4137025"/>
                  </a:cubicBezTo>
                  <a:lnTo>
                    <a:pt x="689483" y="4137025"/>
                  </a:lnTo>
                  <a:cubicBezTo>
                    <a:pt x="308737" y="4137025"/>
                    <a:pt x="0" y="3828415"/>
                    <a:pt x="0" y="3447542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EE5F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35402" y="4323921"/>
            <a:ext cx="123539" cy="3088510"/>
            <a:chOff x="0" y="0"/>
            <a:chExt cx="164719" cy="411801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4719" cy="4117975"/>
            </a:xfrm>
            <a:custGeom>
              <a:avLst/>
              <a:gdLst/>
              <a:ahLst/>
              <a:cxnLst/>
              <a:rect r="r" b="b" t="t" l="l"/>
              <a:pathLst>
                <a:path h="4117975" w="164719">
                  <a:moveTo>
                    <a:pt x="0" y="0"/>
                  </a:moveTo>
                  <a:lnTo>
                    <a:pt x="164719" y="0"/>
                  </a:lnTo>
                  <a:lnTo>
                    <a:pt x="164719" y="4117975"/>
                  </a:lnTo>
                  <a:lnTo>
                    <a:pt x="0" y="4117975"/>
                  </a:lnTo>
                  <a:close/>
                </a:path>
              </a:pathLst>
            </a:custGeom>
            <a:solidFill>
              <a:srgbClr val="2457C5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573968" y="4607576"/>
            <a:ext cx="4388034" cy="503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172B4D"/>
                </a:solidFill>
                <a:latin typeface="Aptos Bold"/>
                <a:ea typeface="Aptos Bold"/>
                <a:cs typeface="Aptos Bold"/>
                <a:sym typeface="Aptos Bold"/>
              </a:rPr>
              <a:t>Local contacts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73968" y="5311835"/>
            <a:ext cx="4360583" cy="1899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5C6B80"/>
                </a:solidFill>
                <a:latin typeface="Aptos"/>
                <a:ea typeface="Aptos"/>
                <a:cs typeface="Aptos"/>
                <a:sym typeface="Aptos"/>
              </a:rPr>
              <a:t>Contact details are stored in a SQLite database on the computer.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650307" y="4316768"/>
            <a:ext cx="5024552" cy="3102807"/>
            <a:chOff x="0" y="0"/>
            <a:chExt cx="6699402" cy="413707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699377" cy="4137025"/>
            </a:xfrm>
            <a:custGeom>
              <a:avLst/>
              <a:gdLst/>
              <a:ahLst/>
              <a:cxnLst/>
              <a:rect r="r" b="b" t="t" l="l"/>
              <a:pathLst>
                <a:path h="4137025" w="6699377">
                  <a:moveTo>
                    <a:pt x="0" y="689483"/>
                  </a:moveTo>
                  <a:cubicBezTo>
                    <a:pt x="0" y="308737"/>
                    <a:pt x="308737" y="0"/>
                    <a:pt x="689483" y="0"/>
                  </a:cubicBezTo>
                  <a:lnTo>
                    <a:pt x="6009894" y="0"/>
                  </a:lnTo>
                  <a:cubicBezTo>
                    <a:pt x="6390767" y="0"/>
                    <a:pt x="6699377" y="308737"/>
                    <a:pt x="6699377" y="689483"/>
                  </a:cubicBezTo>
                  <a:lnTo>
                    <a:pt x="6699377" y="3447542"/>
                  </a:lnTo>
                  <a:cubicBezTo>
                    <a:pt x="6699377" y="3828415"/>
                    <a:pt x="6390640" y="4137025"/>
                    <a:pt x="6009894" y="4137025"/>
                  </a:cubicBezTo>
                  <a:lnTo>
                    <a:pt x="689483" y="4137025"/>
                  </a:lnTo>
                  <a:cubicBezTo>
                    <a:pt x="308737" y="4137025"/>
                    <a:pt x="0" y="3828415"/>
                    <a:pt x="0" y="3447542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EE5F0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6657461" y="4323921"/>
            <a:ext cx="123539" cy="3088510"/>
            <a:chOff x="0" y="0"/>
            <a:chExt cx="164719" cy="411801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4719" cy="4117975"/>
            </a:xfrm>
            <a:custGeom>
              <a:avLst/>
              <a:gdLst/>
              <a:ahLst/>
              <a:cxnLst/>
              <a:rect r="r" b="b" t="t" l="l"/>
              <a:pathLst>
                <a:path h="4117975" w="164719">
                  <a:moveTo>
                    <a:pt x="0" y="0"/>
                  </a:moveTo>
                  <a:lnTo>
                    <a:pt x="164719" y="0"/>
                  </a:lnTo>
                  <a:lnTo>
                    <a:pt x="164719" y="4117975"/>
                  </a:lnTo>
                  <a:lnTo>
                    <a:pt x="0" y="4117975"/>
                  </a:lnTo>
                  <a:close/>
                </a:path>
              </a:pathLst>
            </a:custGeom>
            <a:solidFill>
              <a:srgbClr val="16865B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6996027" y="4607576"/>
            <a:ext cx="4388034" cy="503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172B4D"/>
                </a:solidFill>
                <a:latin typeface="Aptos Bold"/>
                <a:ea typeface="Aptos Bold"/>
                <a:cs typeface="Aptos Bold"/>
                <a:sym typeface="Aptos Bold"/>
              </a:rPr>
              <a:t>Easy interface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996027" y="5311835"/>
            <a:ext cx="4360583" cy="1899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5C6B80"/>
                </a:solidFill>
                <a:latin typeface="Aptos"/>
                <a:ea typeface="Aptos"/>
                <a:cs typeface="Aptos"/>
                <a:sym typeface="Aptos"/>
              </a:rPr>
              <a:t>A Tkinter graphical interface provides forms, buttons, and a contact table.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2072366" y="4316768"/>
            <a:ext cx="5024552" cy="3102807"/>
            <a:chOff x="0" y="0"/>
            <a:chExt cx="6699402" cy="413707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699377" cy="4137025"/>
            </a:xfrm>
            <a:custGeom>
              <a:avLst/>
              <a:gdLst/>
              <a:ahLst/>
              <a:cxnLst/>
              <a:rect r="r" b="b" t="t" l="l"/>
              <a:pathLst>
                <a:path h="4137025" w="6699377">
                  <a:moveTo>
                    <a:pt x="0" y="689483"/>
                  </a:moveTo>
                  <a:cubicBezTo>
                    <a:pt x="0" y="308737"/>
                    <a:pt x="308737" y="0"/>
                    <a:pt x="689483" y="0"/>
                  </a:cubicBezTo>
                  <a:lnTo>
                    <a:pt x="6009894" y="0"/>
                  </a:lnTo>
                  <a:cubicBezTo>
                    <a:pt x="6390767" y="0"/>
                    <a:pt x="6699377" y="308737"/>
                    <a:pt x="6699377" y="689483"/>
                  </a:cubicBezTo>
                  <a:lnTo>
                    <a:pt x="6699377" y="3447542"/>
                  </a:lnTo>
                  <a:cubicBezTo>
                    <a:pt x="6699377" y="3828415"/>
                    <a:pt x="6390640" y="4137025"/>
                    <a:pt x="6009894" y="4137025"/>
                  </a:cubicBezTo>
                  <a:lnTo>
                    <a:pt x="689483" y="4137025"/>
                  </a:lnTo>
                  <a:cubicBezTo>
                    <a:pt x="308737" y="4137025"/>
                    <a:pt x="0" y="3828415"/>
                    <a:pt x="0" y="3447542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EE5F0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2079519" y="4323921"/>
            <a:ext cx="123539" cy="3088510"/>
            <a:chOff x="0" y="0"/>
            <a:chExt cx="164719" cy="411801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64719" cy="4117975"/>
            </a:xfrm>
            <a:custGeom>
              <a:avLst/>
              <a:gdLst/>
              <a:ahLst/>
              <a:cxnLst/>
              <a:rect r="r" b="b" t="t" l="l"/>
              <a:pathLst>
                <a:path h="4117975" w="164719">
                  <a:moveTo>
                    <a:pt x="0" y="0"/>
                  </a:moveTo>
                  <a:lnTo>
                    <a:pt x="164719" y="0"/>
                  </a:lnTo>
                  <a:lnTo>
                    <a:pt x="164719" y="4117975"/>
                  </a:lnTo>
                  <a:lnTo>
                    <a:pt x="0" y="4117975"/>
                  </a:lnTo>
                  <a:close/>
                </a:path>
              </a:pathLst>
            </a:custGeom>
            <a:solidFill>
              <a:srgbClr val="E5A000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2418085" y="4607576"/>
            <a:ext cx="4388034" cy="503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172B4D"/>
                </a:solidFill>
                <a:latin typeface="Aptos Bold"/>
                <a:ea typeface="Aptos Bold"/>
                <a:cs typeface="Aptos Bold"/>
                <a:sym typeface="Aptos Bold"/>
              </a:rPr>
              <a:t>API demo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418085" y="5311835"/>
            <a:ext cx="4360583" cy="1899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5C6B80"/>
                </a:solidFill>
                <a:latin typeface="Aptos"/>
                <a:ea typeface="Aptos"/>
                <a:cs typeface="Aptos"/>
                <a:sym typeface="Aptos"/>
              </a:rPr>
              <a:t>The app can fetch sample users from a REST API and display them in the table.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219627"/>
            <a:chOff x="0" y="0"/>
            <a:chExt cx="24402453" cy="2928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292862"/>
            </a:xfrm>
            <a:custGeom>
              <a:avLst/>
              <a:gdLst/>
              <a:ahLst/>
              <a:cxnLst/>
              <a:rect r="r" b="b" t="t" l="l"/>
              <a:pathLst>
                <a:path h="292862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92862"/>
                  </a:lnTo>
                  <a:lnTo>
                    <a:pt x="0" y="292862"/>
                  </a:lnTo>
                  <a:close/>
                </a:path>
              </a:pathLst>
            </a:custGeom>
            <a:solidFill>
              <a:srgbClr val="2457C5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28811" y="613096"/>
            <a:ext cx="16124387" cy="681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72B4D"/>
                </a:solidFill>
                <a:latin typeface="Aptos Bold"/>
                <a:ea typeface="Aptos Bold"/>
                <a:cs typeface="Aptos Bold"/>
                <a:sym typeface="Aptos Bold"/>
              </a:rPr>
              <a:t>Project Objectives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69997" y="1409252"/>
            <a:ext cx="15849848" cy="338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5C6B80"/>
                </a:solidFill>
                <a:latin typeface="Aptos"/>
                <a:ea typeface="Aptos"/>
                <a:cs typeface="Aptos"/>
                <a:sym typeface="Aptos"/>
              </a:rPr>
              <a:t>Main goals of the project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783183" y="9755095"/>
            <a:ext cx="613181" cy="201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5C6B80"/>
                </a:solidFill>
                <a:latin typeface="Aptos"/>
                <a:ea typeface="Aptos"/>
                <a:cs typeface="Aptos"/>
                <a:sym typeface="Aptos"/>
              </a:rPr>
              <a:t>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08554" y="2319776"/>
            <a:ext cx="15639431" cy="6634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2"/>
              </a:lnSpc>
            </a:pPr>
            <a:r>
              <a:rPr lang="en-US" sz="3152">
                <a:solidFill>
                  <a:srgbClr val="233044"/>
                </a:solidFill>
                <a:latin typeface="Aptos"/>
                <a:ea typeface="Aptos"/>
                <a:cs typeface="Aptos"/>
                <a:sym typeface="Aptos"/>
              </a:rPr>
              <a:t>Create a user-friendly desktop interface for contact management.</a:t>
            </a:r>
          </a:p>
          <a:p>
            <a:pPr algn="l">
              <a:lnSpc>
                <a:spcPts val="3782"/>
              </a:lnSpc>
            </a:pPr>
            <a:r>
              <a:rPr lang="en-US" sz="3152">
                <a:solidFill>
                  <a:srgbClr val="233044"/>
                </a:solidFill>
                <a:latin typeface="Aptos"/>
                <a:ea typeface="Aptos"/>
                <a:cs typeface="Aptos"/>
                <a:sym typeface="Aptos"/>
              </a:rPr>
              <a:t>Store contact records persistently using SQLite.</a:t>
            </a:r>
          </a:p>
          <a:p>
            <a:pPr algn="l">
              <a:lnSpc>
                <a:spcPts val="3782"/>
              </a:lnSpc>
            </a:pPr>
            <a:r>
              <a:rPr lang="en-US" sz="3152">
                <a:solidFill>
                  <a:srgbClr val="233044"/>
                </a:solidFill>
                <a:latin typeface="Aptos"/>
                <a:ea typeface="Aptos"/>
                <a:cs typeface="Aptos"/>
                <a:sym typeface="Aptos"/>
              </a:rPr>
              <a:t>Implement CRUD operations: Create, Read, Update, and Delete.</a:t>
            </a:r>
          </a:p>
          <a:p>
            <a:pPr algn="l">
              <a:lnSpc>
                <a:spcPts val="3782"/>
              </a:lnSpc>
            </a:pPr>
            <a:r>
              <a:rPr lang="en-US" sz="3152">
                <a:solidFill>
                  <a:srgbClr val="233044"/>
                </a:solidFill>
                <a:latin typeface="Aptos"/>
                <a:ea typeface="Aptos"/>
                <a:cs typeface="Aptos"/>
                <a:sym typeface="Aptos"/>
              </a:rPr>
              <a:t>Provide search by contact name and a way to show all saved contacts.</a:t>
            </a:r>
          </a:p>
          <a:p>
            <a:pPr algn="l">
              <a:lnSpc>
                <a:spcPts val="3782"/>
              </a:lnSpc>
            </a:pPr>
            <a:r>
              <a:rPr lang="en-US" sz="3152">
                <a:solidFill>
                  <a:srgbClr val="233044"/>
                </a:solidFill>
                <a:latin typeface="Aptos"/>
                <a:ea typeface="Aptos"/>
                <a:cs typeface="Aptos"/>
                <a:sym typeface="Aptos"/>
              </a:rPr>
              <a:t>Connect to a REST API to fetch and display sample contact data.</a:t>
            </a:r>
          </a:p>
          <a:p>
            <a:pPr algn="l">
              <a:lnSpc>
                <a:spcPts val="3782"/>
              </a:lnSpc>
            </a:pPr>
            <a:r>
              <a:rPr lang="en-US" sz="3152">
                <a:solidFill>
                  <a:srgbClr val="233044"/>
                </a:solidFill>
                <a:latin typeface="Aptos"/>
                <a:ea typeface="Aptos"/>
                <a:cs typeface="Aptos"/>
                <a:sym typeface="Aptos"/>
              </a:rPr>
              <a:t>Practice Python programming, database operations, and API requests.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219627"/>
            <a:chOff x="0" y="0"/>
            <a:chExt cx="24402453" cy="2928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292862"/>
            </a:xfrm>
            <a:custGeom>
              <a:avLst/>
              <a:gdLst/>
              <a:ahLst/>
              <a:cxnLst/>
              <a:rect r="r" b="b" t="t" l="l"/>
              <a:pathLst>
                <a:path h="292862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92862"/>
                  </a:lnTo>
                  <a:lnTo>
                    <a:pt x="0" y="292862"/>
                  </a:lnTo>
                  <a:close/>
                </a:path>
              </a:pathLst>
            </a:custGeom>
            <a:solidFill>
              <a:srgbClr val="2457C5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28811" y="613096"/>
            <a:ext cx="16124387" cy="681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72B4D"/>
                </a:solidFill>
                <a:latin typeface="Aptos Bold"/>
                <a:ea typeface="Aptos Bold"/>
                <a:cs typeface="Aptos Bold"/>
                <a:sym typeface="Aptos Bold"/>
              </a:rPr>
              <a:t>Technology Stack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69997" y="1409252"/>
            <a:ext cx="15849848" cy="338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5C6B80"/>
                </a:solidFill>
                <a:latin typeface="Aptos"/>
                <a:ea typeface="Aptos"/>
                <a:cs typeface="Aptos"/>
                <a:sym typeface="Aptos"/>
              </a:rPr>
              <a:t>Tools and libraries used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783183" y="9755095"/>
            <a:ext cx="613181" cy="201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5C6B80"/>
                </a:solidFill>
                <a:latin typeface="Aptos"/>
                <a:ea typeface="Aptos"/>
                <a:cs typeface="Aptos"/>
                <a:sym typeface="Aptos"/>
              </a:rPr>
              <a:t>4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28258" y="2257758"/>
            <a:ext cx="5161817" cy="2416473"/>
            <a:chOff x="0" y="0"/>
            <a:chExt cx="6882422" cy="32219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882385" cy="3221863"/>
            </a:xfrm>
            <a:custGeom>
              <a:avLst/>
              <a:gdLst/>
              <a:ahLst/>
              <a:cxnLst/>
              <a:rect r="r" b="b" t="t" l="l"/>
              <a:pathLst>
                <a:path h="3221863" w="6882385">
                  <a:moveTo>
                    <a:pt x="0" y="536956"/>
                  </a:moveTo>
                  <a:cubicBezTo>
                    <a:pt x="0" y="240411"/>
                    <a:pt x="240411" y="0"/>
                    <a:pt x="536956" y="0"/>
                  </a:cubicBezTo>
                  <a:lnTo>
                    <a:pt x="6345428" y="0"/>
                  </a:lnTo>
                  <a:cubicBezTo>
                    <a:pt x="6641973" y="0"/>
                    <a:pt x="6882385" y="240411"/>
                    <a:pt x="6882385" y="536956"/>
                  </a:cubicBezTo>
                  <a:lnTo>
                    <a:pt x="6882385" y="2684907"/>
                  </a:lnTo>
                  <a:cubicBezTo>
                    <a:pt x="6882385" y="2981452"/>
                    <a:pt x="6641973" y="3221863"/>
                    <a:pt x="6345428" y="3221863"/>
                  </a:cubicBezTo>
                  <a:lnTo>
                    <a:pt x="536956" y="3221863"/>
                  </a:lnTo>
                  <a:cubicBezTo>
                    <a:pt x="240411" y="3221990"/>
                    <a:pt x="0" y="2981579"/>
                    <a:pt x="0" y="2684907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EE5F0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235402" y="2264912"/>
            <a:ext cx="123539" cy="2402176"/>
            <a:chOff x="0" y="0"/>
            <a:chExt cx="164719" cy="320290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4719" cy="3202940"/>
            </a:xfrm>
            <a:custGeom>
              <a:avLst/>
              <a:gdLst/>
              <a:ahLst/>
              <a:cxnLst/>
              <a:rect r="r" b="b" t="t" l="l"/>
              <a:pathLst>
                <a:path h="3202940" w="164719">
                  <a:moveTo>
                    <a:pt x="0" y="0"/>
                  </a:moveTo>
                  <a:lnTo>
                    <a:pt x="164719" y="0"/>
                  </a:lnTo>
                  <a:lnTo>
                    <a:pt x="164719" y="3202940"/>
                  </a:lnTo>
                  <a:lnTo>
                    <a:pt x="0" y="3202940"/>
                  </a:lnTo>
                  <a:close/>
                </a:path>
              </a:pathLst>
            </a:custGeom>
            <a:solidFill>
              <a:srgbClr val="2457C5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573968" y="2548566"/>
            <a:ext cx="4525299" cy="503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172B4D"/>
                </a:solidFill>
                <a:latin typeface="Aptos Bold"/>
                <a:ea typeface="Aptos Bold"/>
                <a:cs typeface="Aptos Bold"/>
                <a:sym typeface="Aptos Bold"/>
              </a:rPr>
              <a:t>Python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73968" y="3252826"/>
            <a:ext cx="4497848" cy="1212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5C6B80"/>
                </a:solidFill>
                <a:latin typeface="Aptos"/>
                <a:ea typeface="Aptos"/>
                <a:cs typeface="Aptos"/>
                <a:sym typeface="Aptos"/>
              </a:rPr>
              <a:t>Core programming language used for application logic.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581680" y="2257758"/>
            <a:ext cx="5161817" cy="2416473"/>
            <a:chOff x="0" y="0"/>
            <a:chExt cx="6882422" cy="32219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882385" cy="3221863"/>
            </a:xfrm>
            <a:custGeom>
              <a:avLst/>
              <a:gdLst/>
              <a:ahLst/>
              <a:cxnLst/>
              <a:rect r="r" b="b" t="t" l="l"/>
              <a:pathLst>
                <a:path h="3221863" w="6882385">
                  <a:moveTo>
                    <a:pt x="0" y="536956"/>
                  </a:moveTo>
                  <a:cubicBezTo>
                    <a:pt x="0" y="240411"/>
                    <a:pt x="240411" y="0"/>
                    <a:pt x="536956" y="0"/>
                  </a:cubicBezTo>
                  <a:lnTo>
                    <a:pt x="6345428" y="0"/>
                  </a:lnTo>
                  <a:cubicBezTo>
                    <a:pt x="6641973" y="0"/>
                    <a:pt x="6882385" y="240411"/>
                    <a:pt x="6882385" y="536956"/>
                  </a:cubicBezTo>
                  <a:lnTo>
                    <a:pt x="6882385" y="2684907"/>
                  </a:lnTo>
                  <a:cubicBezTo>
                    <a:pt x="6882385" y="2981452"/>
                    <a:pt x="6641973" y="3221863"/>
                    <a:pt x="6345428" y="3221863"/>
                  </a:cubicBezTo>
                  <a:lnTo>
                    <a:pt x="536956" y="3221863"/>
                  </a:lnTo>
                  <a:cubicBezTo>
                    <a:pt x="240411" y="3221990"/>
                    <a:pt x="0" y="2981579"/>
                    <a:pt x="0" y="2684907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EE5F0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588824" y="2264912"/>
            <a:ext cx="123539" cy="2402176"/>
            <a:chOff x="0" y="0"/>
            <a:chExt cx="164719" cy="320290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4719" cy="3202940"/>
            </a:xfrm>
            <a:custGeom>
              <a:avLst/>
              <a:gdLst/>
              <a:ahLst/>
              <a:cxnLst/>
              <a:rect r="r" b="b" t="t" l="l"/>
              <a:pathLst>
                <a:path h="3202940" w="164719">
                  <a:moveTo>
                    <a:pt x="0" y="0"/>
                  </a:moveTo>
                  <a:lnTo>
                    <a:pt x="164719" y="0"/>
                  </a:lnTo>
                  <a:lnTo>
                    <a:pt x="164719" y="3202940"/>
                  </a:lnTo>
                  <a:lnTo>
                    <a:pt x="0" y="3202940"/>
                  </a:lnTo>
                  <a:close/>
                </a:path>
              </a:pathLst>
            </a:custGeom>
            <a:solidFill>
              <a:srgbClr val="16865B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927390" y="2548566"/>
            <a:ext cx="4525299" cy="503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172B4D"/>
                </a:solidFill>
                <a:latin typeface="Aptos Bold"/>
                <a:ea typeface="Aptos Bold"/>
                <a:cs typeface="Aptos Bold"/>
                <a:sym typeface="Aptos Bold"/>
              </a:rPr>
              <a:t>Tkinter + ttk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927390" y="3252826"/>
            <a:ext cx="4497848" cy="1212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5C6B80"/>
                </a:solidFill>
                <a:latin typeface="Aptos"/>
                <a:ea typeface="Aptos"/>
                <a:cs typeface="Aptos"/>
                <a:sym typeface="Aptos"/>
              </a:rPr>
              <a:t>Builds the desktop GUI, form controls, buttons, and table.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935101" y="2257758"/>
            <a:ext cx="5161817" cy="2416473"/>
            <a:chOff x="0" y="0"/>
            <a:chExt cx="6882422" cy="322196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882385" cy="3221863"/>
            </a:xfrm>
            <a:custGeom>
              <a:avLst/>
              <a:gdLst/>
              <a:ahLst/>
              <a:cxnLst/>
              <a:rect r="r" b="b" t="t" l="l"/>
              <a:pathLst>
                <a:path h="3221863" w="6882385">
                  <a:moveTo>
                    <a:pt x="0" y="536956"/>
                  </a:moveTo>
                  <a:cubicBezTo>
                    <a:pt x="0" y="240411"/>
                    <a:pt x="240411" y="0"/>
                    <a:pt x="536956" y="0"/>
                  </a:cubicBezTo>
                  <a:lnTo>
                    <a:pt x="6345428" y="0"/>
                  </a:lnTo>
                  <a:cubicBezTo>
                    <a:pt x="6641973" y="0"/>
                    <a:pt x="6882385" y="240411"/>
                    <a:pt x="6882385" y="536956"/>
                  </a:cubicBezTo>
                  <a:lnTo>
                    <a:pt x="6882385" y="2684907"/>
                  </a:lnTo>
                  <a:cubicBezTo>
                    <a:pt x="6882385" y="2981452"/>
                    <a:pt x="6641973" y="3221863"/>
                    <a:pt x="6345428" y="3221863"/>
                  </a:cubicBezTo>
                  <a:lnTo>
                    <a:pt x="536956" y="3221863"/>
                  </a:lnTo>
                  <a:cubicBezTo>
                    <a:pt x="240411" y="3221990"/>
                    <a:pt x="0" y="2981579"/>
                    <a:pt x="0" y="2684907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EE5F0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1942245" y="2264912"/>
            <a:ext cx="123539" cy="2402176"/>
            <a:chOff x="0" y="0"/>
            <a:chExt cx="164719" cy="320290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64719" cy="3202940"/>
            </a:xfrm>
            <a:custGeom>
              <a:avLst/>
              <a:gdLst/>
              <a:ahLst/>
              <a:cxnLst/>
              <a:rect r="r" b="b" t="t" l="l"/>
              <a:pathLst>
                <a:path h="3202940" w="164719">
                  <a:moveTo>
                    <a:pt x="0" y="0"/>
                  </a:moveTo>
                  <a:lnTo>
                    <a:pt x="164719" y="0"/>
                  </a:lnTo>
                  <a:lnTo>
                    <a:pt x="164719" y="3202940"/>
                  </a:lnTo>
                  <a:lnTo>
                    <a:pt x="0" y="3202940"/>
                  </a:lnTo>
                  <a:close/>
                </a:path>
              </a:pathLst>
            </a:custGeom>
            <a:solidFill>
              <a:srgbClr val="E5A000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2280811" y="2548566"/>
            <a:ext cx="4525299" cy="503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172B4D"/>
                </a:solidFill>
                <a:latin typeface="Aptos Bold"/>
                <a:ea typeface="Aptos Bold"/>
                <a:cs typeface="Aptos Bold"/>
                <a:sym typeface="Aptos Bold"/>
              </a:rPr>
              <a:t>SQLite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280811" y="3252826"/>
            <a:ext cx="4497848" cy="1212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5C6B80"/>
                </a:solidFill>
                <a:latin typeface="Aptos"/>
                <a:ea typeface="Aptos"/>
                <a:cs typeface="Aptos"/>
                <a:sym typeface="Aptos"/>
              </a:rPr>
              <a:t>Stores saved contacts in the local contacts.db file.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3904964" y="5483542"/>
            <a:ext cx="5161817" cy="2416473"/>
            <a:chOff x="0" y="0"/>
            <a:chExt cx="6882422" cy="322196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882385" cy="3221863"/>
            </a:xfrm>
            <a:custGeom>
              <a:avLst/>
              <a:gdLst/>
              <a:ahLst/>
              <a:cxnLst/>
              <a:rect r="r" b="b" t="t" l="l"/>
              <a:pathLst>
                <a:path h="3221863" w="6882385">
                  <a:moveTo>
                    <a:pt x="0" y="536956"/>
                  </a:moveTo>
                  <a:cubicBezTo>
                    <a:pt x="0" y="240411"/>
                    <a:pt x="240411" y="0"/>
                    <a:pt x="536956" y="0"/>
                  </a:cubicBezTo>
                  <a:lnTo>
                    <a:pt x="6345428" y="0"/>
                  </a:lnTo>
                  <a:cubicBezTo>
                    <a:pt x="6641973" y="0"/>
                    <a:pt x="6882385" y="240411"/>
                    <a:pt x="6882385" y="536956"/>
                  </a:cubicBezTo>
                  <a:lnTo>
                    <a:pt x="6882385" y="2684907"/>
                  </a:lnTo>
                  <a:cubicBezTo>
                    <a:pt x="6882385" y="2981452"/>
                    <a:pt x="6641973" y="3221863"/>
                    <a:pt x="6345428" y="3221863"/>
                  </a:cubicBezTo>
                  <a:lnTo>
                    <a:pt x="536956" y="3221863"/>
                  </a:lnTo>
                  <a:cubicBezTo>
                    <a:pt x="240411" y="3221990"/>
                    <a:pt x="0" y="2981579"/>
                    <a:pt x="0" y="2684907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EE5F0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3912118" y="5490686"/>
            <a:ext cx="123539" cy="2402176"/>
            <a:chOff x="0" y="0"/>
            <a:chExt cx="164719" cy="320290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64719" cy="3202940"/>
            </a:xfrm>
            <a:custGeom>
              <a:avLst/>
              <a:gdLst/>
              <a:ahLst/>
              <a:cxnLst/>
              <a:rect r="r" b="b" t="t" l="l"/>
              <a:pathLst>
                <a:path h="3202940" w="164719">
                  <a:moveTo>
                    <a:pt x="0" y="0"/>
                  </a:moveTo>
                  <a:lnTo>
                    <a:pt x="164719" y="0"/>
                  </a:lnTo>
                  <a:lnTo>
                    <a:pt x="164719" y="3202940"/>
                  </a:lnTo>
                  <a:lnTo>
                    <a:pt x="0" y="3202940"/>
                  </a:lnTo>
                  <a:close/>
                </a:path>
              </a:pathLst>
            </a:custGeom>
            <a:solidFill>
              <a:srgbClr val="D64545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4250684" y="5774341"/>
            <a:ext cx="4525299" cy="503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172B4D"/>
                </a:solidFill>
                <a:latin typeface="Aptos Bold"/>
                <a:ea typeface="Aptos Bold"/>
                <a:cs typeface="Aptos Bold"/>
                <a:sym typeface="Aptos Bold"/>
              </a:rPr>
              <a:t>Requests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250684" y="6478610"/>
            <a:ext cx="4497848" cy="1212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5C6B80"/>
                </a:solidFill>
                <a:latin typeface="Aptos"/>
                <a:ea typeface="Aptos"/>
                <a:cs typeface="Aptos"/>
                <a:sym typeface="Aptos"/>
              </a:rPr>
              <a:t>Sends HTTP requests to the sample REST API.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327023" y="5483542"/>
            <a:ext cx="5161817" cy="2416473"/>
            <a:chOff x="0" y="0"/>
            <a:chExt cx="6882422" cy="322196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882385" cy="3221863"/>
            </a:xfrm>
            <a:custGeom>
              <a:avLst/>
              <a:gdLst/>
              <a:ahLst/>
              <a:cxnLst/>
              <a:rect r="r" b="b" t="t" l="l"/>
              <a:pathLst>
                <a:path h="3221863" w="6882385">
                  <a:moveTo>
                    <a:pt x="0" y="536956"/>
                  </a:moveTo>
                  <a:cubicBezTo>
                    <a:pt x="0" y="240411"/>
                    <a:pt x="240411" y="0"/>
                    <a:pt x="536956" y="0"/>
                  </a:cubicBezTo>
                  <a:lnTo>
                    <a:pt x="6345428" y="0"/>
                  </a:lnTo>
                  <a:cubicBezTo>
                    <a:pt x="6641973" y="0"/>
                    <a:pt x="6882385" y="240411"/>
                    <a:pt x="6882385" y="536956"/>
                  </a:cubicBezTo>
                  <a:lnTo>
                    <a:pt x="6882385" y="2684907"/>
                  </a:lnTo>
                  <a:cubicBezTo>
                    <a:pt x="6882385" y="2981452"/>
                    <a:pt x="6641973" y="3221863"/>
                    <a:pt x="6345428" y="3221863"/>
                  </a:cubicBezTo>
                  <a:lnTo>
                    <a:pt x="536956" y="3221863"/>
                  </a:lnTo>
                  <a:cubicBezTo>
                    <a:pt x="240411" y="3221990"/>
                    <a:pt x="0" y="2981579"/>
                    <a:pt x="0" y="2684907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EE5F0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9334176" y="5490686"/>
            <a:ext cx="123539" cy="2402176"/>
            <a:chOff x="0" y="0"/>
            <a:chExt cx="164719" cy="320290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64719" cy="3202940"/>
            </a:xfrm>
            <a:custGeom>
              <a:avLst/>
              <a:gdLst/>
              <a:ahLst/>
              <a:cxnLst/>
              <a:rect r="r" b="b" t="t" l="l"/>
              <a:pathLst>
                <a:path h="3202940" w="164719">
                  <a:moveTo>
                    <a:pt x="0" y="0"/>
                  </a:moveTo>
                  <a:lnTo>
                    <a:pt x="164719" y="0"/>
                  </a:lnTo>
                  <a:lnTo>
                    <a:pt x="164719" y="3202940"/>
                  </a:lnTo>
                  <a:lnTo>
                    <a:pt x="0" y="3202940"/>
                  </a:lnTo>
                  <a:close/>
                </a:path>
              </a:pathLst>
            </a:custGeom>
            <a:solidFill>
              <a:srgbClr val="2457C5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9672733" y="5774341"/>
            <a:ext cx="4525299" cy="503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172B4D"/>
                </a:solidFill>
                <a:latin typeface="Aptos Bold"/>
                <a:ea typeface="Aptos Bold"/>
                <a:cs typeface="Aptos Bold"/>
                <a:sym typeface="Aptos Bold"/>
              </a:rPr>
              <a:t>JSON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672733" y="6478610"/>
            <a:ext cx="4497848" cy="1212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5C6B80"/>
                </a:solidFill>
                <a:latin typeface="Aptos"/>
                <a:ea typeface="Aptos"/>
                <a:cs typeface="Aptos"/>
                <a:sym typeface="Aptos"/>
              </a:rPr>
              <a:t>API response data is converted into Python objects for display.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219627"/>
            <a:chOff x="0" y="0"/>
            <a:chExt cx="24402453" cy="2928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292862"/>
            </a:xfrm>
            <a:custGeom>
              <a:avLst/>
              <a:gdLst/>
              <a:ahLst/>
              <a:cxnLst/>
              <a:rect r="r" b="b" t="t" l="l"/>
              <a:pathLst>
                <a:path h="292862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92862"/>
                  </a:lnTo>
                  <a:lnTo>
                    <a:pt x="0" y="292862"/>
                  </a:lnTo>
                  <a:close/>
                </a:path>
              </a:pathLst>
            </a:custGeom>
            <a:solidFill>
              <a:srgbClr val="2457C5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28811" y="613096"/>
            <a:ext cx="16124387" cy="681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72B4D"/>
                </a:solidFill>
                <a:latin typeface="Aptos Bold"/>
                <a:ea typeface="Aptos Bold"/>
                <a:cs typeface="Aptos Bold"/>
                <a:sym typeface="Aptos Bold"/>
              </a:rPr>
              <a:t>Application Workflow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69997" y="1409252"/>
            <a:ext cx="15849848" cy="338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5C6B80"/>
                </a:solidFill>
                <a:latin typeface="Aptos"/>
                <a:ea typeface="Aptos"/>
                <a:cs typeface="Aptos"/>
                <a:sym typeface="Aptos"/>
              </a:rPr>
              <a:t>How the main parts work together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783183" y="9755095"/>
            <a:ext cx="613181" cy="201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5C6B80"/>
                </a:solidFill>
                <a:latin typeface="Aptos"/>
                <a:ea typeface="Aptos"/>
                <a:cs typeface="Aptos"/>
                <a:sym typeface="Aptos"/>
              </a:rPr>
              <a:t>5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53719" y="3081366"/>
            <a:ext cx="3514611" cy="1730140"/>
            <a:chOff x="0" y="0"/>
            <a:chExt cx="4686148" cy="230685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686046" cy="2306828"/>
            </a:xfrm>
            <a:custGeom>
              <a:avLst/>
              <a:gdLst/>
              <a:ahLst/>
              <a:cxnLst/>
              <a:rect r="r" b="b" t="t" l="l"/>
              <a:pathLst>
                <a:path h="2306828" w="4686046">
                  <a:moveTo>
                    <a:pt x="0" y="384429"/>
                  </a:moveTo>
                  <a:cubicBezTo>
                    <a:pt x="0" y="172085"/>
                    <a:pt x="172085" y="0"/>
                    <a:pt x="384429" y="0"/>
                  </a:cubicBezTo>
                  <a:lnTo>
                    <a:pt x="4301617" y="0"/>
                  </a:lnTo>
                  <a:cubicBezTo>
                    <a:pt x="4513961" y="0"/>
                    <a:pt x="4686046" y="172085"/>
                    <a:pt x="4686046" y="384429"/>
                  </a:cubicBezTo>
                  <a:lnTo>
                    <a:pt x="4686046" y="1922399"/>
                  </a:lnTo>
                  <a:cubicBezTo>
                    <a:pt x="4686046" y="2134743"/>
                    <a:pt x="4513961" y="2306828"/>
                    <a:pt x="4301617" y="2306828"/>
                  </a:cubicBezTo>
                  <a:lnTo>
                    <a:pt x="384429" y="2306828"/>
                  </a:lnTo>
                  <a:cubicBezTo>
                    <a:pt x="172085" y="2306828"/>
                    <a:pt x="0" y="2134743"/>
                    <a:pt x="0" y="1922399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EE5F0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960872" y="3088510"/>
            <a:ext cx="123539" cy="1715843"/>
            <a:chOff x="0" y="0"/>
            <a:chExt cx="164719" cy="22877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4719" cy="2287778"/>
            </a:xfrm>
            <a:custGeom>
              <a:avLst/>
              <a:gdLst/>
              <a:ahLst/>
              <a:cxnLst/>
              <a:rect r="r" b="b" t="t" l="l"/>
              <a:pathLst>
                <a:path h="2287778" w="164719">
                  <a:moveTo>
                    <a:pt x="0" y="0"/>
                  </a:moveTo>
                  <a:lnTo>
                    <a:pt x="164719" y="0"/>
                  </a:lnTo>
                  <a:lnTo>
                    <a:pt x="164719" y="2287778"/>
                  </a:lnTo>
                  <a:lnTo>
                    <a:pt x="0" y="2287778"/>
                  </a:lnTo>
                  <a:close/>
                </a:path>
              </a:pathLst>
            </a:custGeom>
            <a:solidFill>
              <a:srgbClr val="2457C5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299429" y="3372174"/>
            <a:ext cx="2878093" cy="503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172B4D"/>
                </a:solidFill>
                <a:latin typeface="Aptos Bold"/>
                <a:ea typeface="Aptos Bold"/>
                <a:cs typeface="Aptos Bold"/>
                <a:sym typeface="Aptos Bold"/>
              </a:rPr>
              <a:t>User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99429" y="4076433"/>
            <a:ext cx="2850642" cy="526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5C6B80"/>
                </a:solidFill>
                <a:latin typeface="Aptos"/>
                <a:ea typeface="Aptos"/>
                <a:cs typeface="Aptos"/>
                <a:sym typeface="Aptos"/>
              </a:rPr>
              <a:t>Clicks buttons / enters data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140376" y="3081366"/>
            <a:ext cx="3514611" cy="1730140"/>
            <a:chOff x="0" y="0"/>
            <a:chExt cx="4686148" cy="230685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686046" cy="2306828"/>
            </a:xfrm>
            <a:custGeom>
              <a:avLst/>
              <a:gdLst/>
              <a:ahLst/>
              <a:cxnLst/>
              <a:rect r="r" b="b" t="t" l="l"/>
              <a:pathLst>
                <a:path h="2306828" w="4686046">
                  <a:moveTo>
                    <a:pt x="0" y="384429"/>
                  </a:moveTo>
                  <a:cubicBezTo>
                    <a:pt x="0" y="172085"/>
                    <a:pt x="172085" y="0"/>
                    <a:pt x="384429" y="0"/>
                  </a:cubicBezTo>
                  <a:lnTo>
                    <a:pt x="4301617" y="0"/>
                  </a:lnTo>
                  <a:cubicBezTo>
                    <a:pt x="4513961" y="0"/>
                    <a:pt x="4686046" y="172085"/>
                    <a:pt x="4686046" y="384429"/>
                  </a:cubicBezTo>
                  <a:lnTo>
                    <a:pt x="4686046" y="1922399"/>
                  </a:lnTo>
                  <a:cubicBezTo>
                    <a:pt x="4686046" y="2134743"/>
                    <a:pt x="4513961" y="2306828"/>
                    <a:pt x="4301617" y="2306828"/>
                  </a:cubicBezTo>
                  <a:lnTo>
                    <a:pt x="384429" y="2306828"/>
                  </a:lnTo>
                  <a:cubicBezTo>
                    <a:pt x="172085" y="2306828"/>
                    <a:pt x="0" y="2134743"/>
                    <a:pt x="0" y="1922399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EE5F0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5147520" y="3088510"/>
            <a:ext cx="123539" cy="1715843"/>
            <a:chOff x="0" y="0"/>
            <a:chExt cx="164719" cy="228779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4719" cy="2287778"/>
            </a:xfrm>
            <a:custGeom>
              <a:avLst/>
              <a:gdLst/>
              <a:ahLst/>
              <a:cxnLst/>
              <a:rect r="r" b="b" t="t" l="l"/>
              <a:pathLst>
                <a:path h="2287778" w="164719">
                  <a:moveTo>
                    <a:pt x="0" y="0"/>
                  </a:moveTo>
                  <a:lnTo>
                    <a:pt x="164719" y="0"/>
                  </a:lnTo>
                  <a:lnTo>
                    <a:pt x="164719" y="2287778"/>
                  </a:lnTo>
                  <a:lnTo>
                    <a:pt x="0" y="2287778"/>
                  </a:lnTo>
                  <a:close/>
                </a:path>
              </a:pathLst>
            </a:custGeom>
            <a:solidFill>
              <a:srgbClr val="16865B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5486086" y="3372174"/>
            <a:ext cx="2878093" cy="503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172B4D"/>
                </a:solidFill>
                <a:latin typeface="Aptos Bold"/>
                <a:ea typeface="Aptos Bold"/>
                <a:cs typeface="Aptos Bold"/>
                <a:sym typeface="Aptos Bold"/>
              </a:rPr>
              <a:t>Tkinter GUI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486086" y="4076433"/>
            <a:ext cx="2850642" cy="526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5C6B80"/>
                </a:solidFill>
                <a:latin typeface="Aptos"/>
                <a:ea typeface="Aptos"/>
                <a:cs typeface="Aptos"/>
                <a:sym typeface="Aptos"/>
              </a:rPr>
              <a:t>Displays forms and contacts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327023" y="1708690"/>
            <a:ext cx="3514611" cy="1730140"/>
            <a:chOff x="0" y="0"/>
            <a:chExt cx="4686148" cy="230685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686046" cy="2306828"/>
            </a:xfrm>
            <a:custGeom>
              <a:avLst/>
              <a:gdLst/>
              <a:ahLst/>
              <a:cxnLst/>
              <a:rect r="r" b="b" t="t" l="l"/>
              <a:pathLst>
                <a:path h="2306828" w="4686046">
                  <a:moveTo>
                    <a:pt x="0" y="384429"/>
                  </a:moveTo>
                  <a:cubicBezTo>
                    <a:pt x="0" y="172085"/>
                    <a:pt x="172085" y="0"/>
                    <a:pt x="384429" y="0"/>
                  </a:cubicBezTo>
                  <a:lnTo>
                    <a:pt x="4301617" y="0"/>
                  </a:lnTo>
                  <a:cubicBezTo>
                    <a:pt x="4513961" y="0"/>
                    <a:pt x="4686046" y="172085"/>
                    <a:pt x="4686046" y="384429"/>
                  </a:cubicBezTo>
                  <a:lnTo>
                    <a:pt x="4686046" y="1922399"/>
                  </a:lnTo>
                  <a:cubicBezTo>
                    <a:pt x="4686046" y="2134743"/>
                    <a:pt x="4513961" y="2306828"/>
                    <a:pt x="4301617" y="2306828"/>
                  </a:cubicBezTo>
                  <a:lnTo>
                    <a:pt x="384429" y="2306828"/>
                  </a:lnTo>
                  <a:cubicBezTo>
                    <a:pt x="172085" y="2306828"/>
                    <a:pt x="0" y="2134743"/>
                    <a:pt x="0" y="1922399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EE5F0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9334176" y="1715843"/>
            <a:ext cx="123539" cy="1715843"/>
            <a:chOff x="0" y="0"/>
            <a:chExt cx="164719" cy="228779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64719" cy="2287778"/>
            </a:xfrm>
            <a:custGeom>
              <a:avLst/>
              <a:gdLst/>
              <a:ahLst/>
              <a:cxnLst/>
              <a:rect r="r" b="b" t="t" l="l"/>
              <a:pathLst>
                <a:path h="2287778" w="164719">
                  <a:moveTo>
                    <a:pt x="0" y="0"/>
                  </a:moveTo>
                  <a:lnTo>
                    <a:pt x="164719" y="0"/>
                  </a:lnTo>
                  <a:lnTo>
                    <a:pt x="164719" y="2287778"/>
                  </a:lnTo>
                  <a:lnTo>
                    <a:pt x="0" y="2287778"/>
                  </a:lnTo>
                  <a:close/>
                </a:path>
              </a:pathLst>
            </a:custGeom>
            <a:solidFill>
              <a:srgbClr val="E5A000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9672733" y="1999498"/>
            <a:ext cx="2878093" cy="503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172B4D"/>
                </a:solidFill>
                <a:latin typeface="Aptos Bold"/>
                <a:ea typeface="Aptos Bold"/>
                <a:cs typeface="Aptos Bold"/>
                <a:sym typeface="Aptos Bold"/>
              </a:rPr>
              <a:t>SQLite DB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672733" y="2703767"/>
            <a:ext cx="2850642" cy="526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5C6B80"/>
                </a:solidFill>
                <a:latin typeface="Aptos"/>
                <a:ea typeface="Aptos"/>
                <a:cs typeface="Aptos"/>
                <a:sym typeface="Aptos"/>
              </a:rPr>
              <a:t>Saves local contacts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327023" y="4591307"/>
            <a:ext cx="3514611" cy="1730140"/>
            <a:chOff x="0" y="0"/>
            <a:chExt cx="4686148" cy="230685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686046" cy="2306828"/>
            </a:xfrm>
            <a:custGeom>
              <a:avLst/>
              <a:gdLst/>
              <a:ahLst/>
              <a:cxnLst/>
              <a:rect r="r" b="b" t="t" l="l"/>
              <a:pathLst>
                <a:path h="2306828" w="4686046">
                  <a:moveTo>
                    <a:pt x="0" y="384429"/>
                  </a:moveTo>
                  <a:cubicBezTo>
                    <a:pt x="0" y="172085"/>
                    <a:pt x="172085" y="0"/>
                    <a:pt x="384429" y="0"/>
                  </a:cubicBezTo>
                  <a:lnTo>
                    <a:pt x="4301617" y="0"/>
                  </a:lnTo>
                  <a:cubicBezTo>
                    <a:pt x="4513961" y="0"/>
                    <a:pt x="4686046" y="172085"/>
                    <a:pt x="4686046" y="384429"/>
                  </a:cubicBezTo>
                  <a:lnTo>
                    <a:pt x="4686046" y="1922399"/>
                  </a:lnTo>
                  <a:cubicBezTo>
                    <a:pt x="4686046" y="2134743"/>
                    <a:pt x="4513961" y="2306828"/>
                    <a:pt x="4301617" y="2306828"/>
                  </a:cubicBezTo>
                  <a:lnTo>
                    <a:pt x="384429" y="2306828"/>
                  </a:lnTo>
                  <a:cubicBezTo>
                    <a:pt x="172085" y="2306828"/>
                    <a:pt x="0" y="2134743"/>
                    <a:pt x="0" y="1922399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EE5F0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9334176" y="4598451"/>
            <a:ext cx="123539" cy="1715843"/>
            <a:chOff x="0" y="0"/>
            <a:chExt cx="164719" cy="228779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64719" cy="2287778"/>
            </a:xfrm>
            <a:custGeom>
              <a:avLst/>
              <a:gdLst/>
              <a:ahLst/>
              <a:cxnLst/>
              <a:rect r="r" b="b" t="t" l="l"/>
              <a:pathLst>
                <a:path h="2287778" w="164719">
                  <a:moveTo>
                    <a:pt x="0" y="0"/>
                  </a:moveTo>
                  <a:lnTo>
                    <a:pt x="164719" y="0"/>
                  </a:lnTo>
                  <a:lnTo>
                    <a:pt x="164719" y="2287778"/>
                  </a:lnTo>
                  <a:lnTo>
                    <a:pt x="0" y="2287778"/>
                  </a:lnTo>
                  <a:close/>
                </a:path>
              </a:pathLst>
            </a:custGeom>
            <a:solidFill>
              <a:srgbClr val="D64545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9672733" y="4882105"/>
            <a:ext cx="2878093" cy="503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172B4D"/>
                </a:solidFill>
                <a:latin typeface="Aptos Bold"/>
                <a:ea typeface="Aptos Bold"/>
                <a:cs typeface="Aptos Bold"/>
                <a:sym typeface="Aptos Bold"/>
              </a:rPr>
              <a:t>REST API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672733" y="5586374"/>
            <a:ext cx="2850642" cy="526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5C6B80"/>
                </a:solidFill>
                <a:latin typeface="Aptos"/>
                <a:ea typeface="Aptos"/>
                <a:cs typeface="Aptos"/>
                <a:sym typeface="Aptos"/>
              </a:rPr>
              <a:t>Returns sample users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3513670" y="3081366"/>
            <a:ext cx="3514611" cy="1730140"/>
            <a:chOff x="0" y="0"/>
            <a:chExt cx="4686148" cy="230685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686046" cy="2306828"/>
            </a:xfrm>
            <a:custGeom>
              <a:avLst/>
              <a:gdLst/>
              <a:ahLst/>
              <a:cxnLst/>
              <a:rect r="r" b="b" t="t" l="l"/>
              <a:pathLst>
                <a:path h="2306828" w="4686046">
                  <a:moveTo>
                    <a:pt x="0" y="384429"/>
                  </a:moveTo>
                  <a:cubicBezTo>
                    <a:pt x="0" y="172085"/>
                    <a:pt x="172085" y="0"/>
                    <a:pt x="384429" y="0"/>
                  </a:cubicBezTo>
                  <a:lnTo>
                    <a:pt x="4301617" y="0"/>
                  </a:lnTo>
                  <a:cubicBezTo>
                    <a:pt x="4513961" y="0"/>
                    <a:pt x="4686046" y="172085"/>
                    <a:pt x="4686046" y="384429"/>
                  </a:cubicBezTo>
                  <a:lnTo>
                    <a:pt x="4686046" y="1922399"/>
                  </a:lnTo>
                  <a:cubicBezTo>
                    <a:pt x="4686046" y="2134743"/>
                    <a:pt x="4513961" y="2306828"/>
                    <a:pt x="4301617" y="2306828"/>
                  </a:cubicBezTo>
                  <a:lnTo>
                    <a:pt x="384429" y="2306828"/>
                  </a:lnTo>
                  <a:cubicBezTo>
                    <a:pt x="172085" y="2306828"/>
                    <a:pt x="0" y="2134743"/>
                    <a:pt x="0" y="1922399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EE5F0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3520823" y="3088510"/>
            <a:ext cx="123539" cy="1715843"/>
            <a:chOff x="0" y="0"/>
            <a:chExt cx="164719" cy="228779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64719" cy="2287778"/>
            </a:xfrm>
            <a:custGeom>
              <a:avLst/>
              <a:gdLst/>
              <a:ahLst/>
              <a:cxnLst/>
              <a:rect r="r" b="b" t="t" l="l"/>
              <a:pathLst>
                <a:path h="2287778" w="164719">
                  <a:moveTo>
                    <a:pt x="0" y="0"/>
                  </a:moveTo>
                  <a:lnTo>
                    <a:pt x="164719" y="0"/>
                  </a:lnTo>
                  <a:lnTo>
                    <a:pt x="164719" y="2287778"/>
                  </a:lnTo>
                  <a:lnTo>
                    <a:pt x="0" y="2287778"/>
                  </a:lnTo>
                  <a:close/>
                </a:path>
              </a:pathLst>
            </a:custGeom>
            <a:solidFill>
              <a:srgbClr val="2457C5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3859389" y="3372174"/>
            <a:ext cx="2878093" cy="503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172B4D"/>
                </a:solidFill>
                <a:latin typeface="Aptos Bold"/>
                <a:ea typeface="Aptos Bold"/>
                <a:cs typeface="Aptos Bold"/>
                <a:sym typeface="Aptos Bold"/>
              </a:rPr>
              <a:t>Contact Table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859389" y="4076433"/>
            <a:ext cx="2850642" cy="526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5C6B80"/>
                </a:solidFill>
                <a:latin typeface="Aptos"/>
                <a:ea typeface="Aptos"/>
                <a:cs typeface="Aptos"/>
                <a:sym typeface="Aptos"/>
              </a:rPr>
              <a:t>Shows local or API data</a:t>
            </a:r>
          </a:p>
        </p:txBody>
      </p:sp>
      <p:sp>
        <p:nvSpPr>
          <p:cNvPr name="AutoShape 37" id="37"/>
          <p:cNvSpPr/>
          <p:nvPr/>
        </p:nvSpPr>
        <p:spPr>
          <a:xfrm rot="180780">
            <a:off x="4441622" y="3943769"/>
            <a:ext cx="725472" cy="0"/>
          </a:xfrm>
          <a:prstGeom prst="line">
            <a:avLst/>
          </a:prstGeom>
          <a:ln cap="rnd" w="19050">
            <a:solidFill>
              <a:srgbClr val="5C6B8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8" id="38"/>
          <p:cNvSpPr/>
          <p:nvPr/>
        </p:nvSpPr>
        <p:spPr>
          <a:xfrm rot="-3350400">
            <a:off x="8345891" y="3113303"/>
            <a:ext cx="1290228" cy="0"/>
          </a:xfrm>
          <a:prstGeom prst="line">
            <a:avLst/>
          </a:prstGeom>
          <a:ln cap="rnd" w="19050">
            <a:solidFill>
              <a:srgbClr val="5C6B8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9" id="39"/>
          <p:cNvSpPr/>
          <p:nvPr/>
        </p:nvSpPr>
        <p:spPr>
          <a:xfrm rot="3621960">
            <a:off x="8258413" y="4794828"/>
            <a:ext cx="1465174" cy="0"/>
          </a:xfrm>
          <a:prstGeom prst="line">
            <a:avLst/>
          </a:prstGeom>
          <a:ln cap="rnd" w="19050">
            <a:solidFill>
              <a:srgbClr val="5C6B8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0" id="40"/>
          <p:cNvSpPr/>
          <p:nvPr/>
        </p:nvSpPr>
        <p:spPr>
          <a:xfrm rot="3350400">
            <a:off x="12532538" y="3113303"/>
            <a:ext cx="1290228" cy="0"/>
          </a:xfrm>
          <a:prstGeom prst="line">
            <a:avLst/>
          </a:prstGeom>
          <a:ln cap="rnd" w="19050">
            <a:solidFill>
              <a:srgbClr val="5C6B8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1" id="41"/>
          <p:cNvSpPr/>
          <p:nvPr/>
        </p:nvSpPr>
        <p:spPr>
          <a:xfrm rot="-3621960">
            <a:off x="12445070" y="4794828"/>
            <a:ext cx="1465174" cy="0"/>
          </a:xfrm>
          <a:prstGeom prst="line">
            <a:avLst/>
          </a:prstGeom>
          <a:ln cap="rnd" w="19050">
            <a:solidFill>
              <a:srgbClr val="5C6B8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2" id="42"/>
          <p:cNvSpPr txBox="true"/>
          <p:nvPr/>
        </p:nvSpPr>
        <p:spPr>
          <a:xfrm rot="0">
            <a:off x="1271978" y="7654909"/>
            <a:ext cx="15712583" cy="750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551">
                <a:solidFill>
                  <a:srgbClr val="5C6B80"/>
                </a:solidFill>
                <a:latin typeface="Aptos"/>
                <a:ea typeface="Aptos"/>
                <a:cs typeface="Aptos"/>
                <a:sym typeface="Aptos"/>
              </a:rPr>
              <a:t>Local contact data is stored in SQLite; API sample data is fetched online and displayed separately.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219627"/>
            <a:chOff x="0" y="0"/>
            <a:chExt cx="24402453" cy="2928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292862"/>
            </a:xfrm>
            <a:custGeom>
              <a:avLst/>
              <a:gdLst/>
              <a:ahLst/>
              <a:cxnLst/>
              <a:rect r="r" b="b" t="t" l="l"/>
              <a:pathLst>
                <a:path h="292862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92862"/>
                  </a:lnTo>
                  <a:lnTo>
                    <a:pt x="0" y="292862"/>
                  </a:lnTo>
                  <a:close/>
                </a:path>
              </a:pathLst>
            </a:custGeom>
            <a:solidFill>
              <a:srgbClr val="2457C5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28811" y="613096"/>
            <a:ext cx="16124387" cy="681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72B4D"/>
                </a:solidFill>
                <a:latin typeface="Aptos Bold"/>
                <a:ea typeface="Aptos Bold"/>
                <a:cs typeface="Aptos Bold"/>
                <a:sym typeface="Aptos Bold"/>
              </a:rPr>
              <a:t>Main GUI Features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69997" y="1409252"/>
            <a:ext cx="15849848" cy="338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5C6B80"/>
                </a:solidFill>
                <a:latin typeface="Aptos"/>
                <a:ea typeface="Aptos"/>
                <a:cs typeface="Aptos"/>
                <a:sym typeface="Aptos"/>
              </a:rPr>
              <a:t>What users can do from the application window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783183" y="9755095"/>
            <a:ext cx="613181" cy="201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5C6B80"/>
                </a:solidFill>
                <a:latin typeface="Aptos"/>
                <a:ea typeface="Aptos"/>
                <a:cs typeface="Aptos"/>
                <a:sym typeface="Aptos"/>
              </a:rPr>
              <a:t>6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28258" y="2189131"/>
            <a:ext cx="5161817" cy="2485111"/>
            <a:chOff x="0" y="0"/>
            <a:chExt cx="6882422" cy="331348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882384" cy="3313430"/>
            </a:xfrm>
            <a:custGeom>
              <a:avLst/>
              <a:gdLst/>
              <a:ahLst/>
              <a:cxnLst/>
              <a:rect r="r" b="b" t="t" l="l"/>
              <a:pathLst>
                <a:path h="3313430" w="6882384">
                  <a:moveTo>
                    <a:pt x="0" y="552196"/>
                  </a:moveTo>
                  <a:cubicBezTo>
                    <a:pt x="0" y="247269"/>
                    <a:pt x="247269" y="0"/>
                    <a:pt x="552196" y="0"/>
                  </a:cubicBezTo>
                  <a:lnTo>
                    <a:pt x="6330188" y="0"/>
                  </a:lnTo>
                  <a:cubicBezTo>
                    <a:pt x="6635242" y="0"/>
                    <a:pt x="6882384" y="247269"/>
                    <a:pt x="6882384" y="552196"/>
                  </a:cubicBezTo>
                  <a:lnTo>
                    <a:pt x="6882384" y="2761234"/>
                  </a:lnTo>
                  <a:cubicBezTo>
                    <a:pt x="6882384" y="3066288"/>
                    <a:pt x="6635115" y="3313430"/>
                    <a:pt x="6330188" y="3313430"/>
                  </a:cubicBezTo>
                  <a:lnTo>
                    <a:pt x="552196" y="3313430"/>
                  </a:lnTo>
                  <a:cubicBezTo>
                    <a:pt x="247269" y="3313430"/>
                    <a:pt x="0" y="3066288"/>
                    <a:pt x="0" y="2761234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EE5F0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235402" y="2196274"/>
            <a:ext cx="123539" cy="2470814"/>
            <a:chOff x="0" y="0"/>
            <a:chExt cx="164719" cy="329441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4719" cy="3294380"/>
            </a:xfrm>
            <a:custGeom>
              <a:avLst/>
              <a:gdLst/>
              <a:ahLst/>
              <a:cxnLst/>
              <a:rect r="r" b="b" t="t" l="l"/>
              <a:pathLst>
                <a:path h="3294380" w="164719">
                  <a:moveTo>
                    <a:pt x="0" y="0"/>
                  </a:moveTo>
                  <a:lnTo>
                    <a:pt x="164719" y="0"/>
                  </a:lnTo>
                  <a:lnTo>
                    <a:pt x="164719" y="3294380"/>
                  </a:lnTo>
                  <a:lnTo>
                    <a:pt x="0" y="3294380"/>
                  </a:lnTo>
                  <a:close/>
                </a:path>
              </a:pathLst>
            </a:custGeom>
            <a:solidFill>
              <a:srgbClr val="2457C5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573968" y="2479929"/>
            <a:ext cx="4525299" cy="503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172B4D"/>
                </a:solidFill>
                <a:latin typeface="Aptos Bold"/>
                <a:ea typeface="Aptos Bold"/>
                <a:cs typeface="Aptos Bold"/>
                <a:sym typeface="Aptos Bold"/>
              </a:rPr>
              <a:t>Contact form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73968" y="3184198"/>
            <a:ext cx="4497848" cy="1281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5C6B80"/>
                </a:solidFill>
                <a:latin typeface="Aptos"/>
                <a:ea typeface="Aptos"/>
                <a:cs typeface="Aptos"/>
                <a:sym typeface="Aptos"/>
              </a:rPr>
              <a:t>Enter name, email address, and phone number.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581680" y="2189131"/>
            <a:ext cx="5161817" cy="2485111"/>
            <a:chOff x="0" y="0"/>
            <a:chExt cx="6882422" cy="331348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882384" cy="3313430"/>
            </a:xfrm>
            <a:custGeom>
              <a:avLst/>
              <a:gdLst/>
              <a:ahLst/>
              <a:cxnLst/>
              <a:rect r="r" b="b" t="t" l="l"/>
              <a:pathLst>
                <a:path h="3313430" w="6882384">
                  <a:moveTo>
                    <a:pt x="0" y="552196"/>
                  </a:moveTo>
                  <a:cubicBezTo>
                    <a:pt x="0" y="247269"/>
                    <a:pt x="247269" y="0"/>
                    <a:pt x="552196" y="0"/>
                  </a:cubicBezTo>
                  <a:lnTo>
                    <a:pt x="6330188" y="0"/>
                  </a:lnTo>
                  <a:cubicBezTo>
                    <a:pt x="6635242" y="0"/>
                    <a:pt x="6882384" y="247269"/>
                    <a:pt x="6882384" y="552196"/>
                  </a:cubicBezTo>
                  <a:lnTo>
                    <a:pt x="6882384" y="2761234"/>
                  </a:lnTo>
                  <a:cubicBezTo>
                    <a:pt x="6882384" y="3066288"/>
                    <a:pt x="6635115" y="3313430"/>
                    <a:pt x="6330188" y="3313430"/>
                  </a:cubicBezTo>
                  <a:lnTo>
                    <a:pt x="552196" y="3313430"/>
                  </a:lnTo>
                  <a:cubicBezTo>
                    <a:pt x="247269" y="3313430"/>
                    <a:pt x="0" y="3066288"/>
                    <a:pt x="0" y="2761234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EE5F0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588824" y="2196274"/>
            <a:ext cx="123539" cy="2470814"/>
            <a:chOff x="0" y="0"/>
            <a:chExt cx="164719" cy="329441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4719" cy="3294380"/>
            </a:xfrm>
            <a:custGeom>
              <a:avLst/>
              <a:gdLst/>
              <a:ahLst/>
              <a:cxnLst/>
              <a:rect r="r" b="b" t="t" l="l"/>
              <a:pathLst>
                <a:path h="3294380" w="164719">
                  <a:moveTo>
                    <a:pt x="0" y="0"/>
                  </a:moveTo>
                  <a:lnTo>
                    <a:pt x="164719" y="0"/>
                  </a:lnTo>
                  <a:lnTo>
                    <a:pt x="164719" y="3294380"/>
                  </a:lnTo>
                  <a:lnTo>
                    <a:pt x="0" y="3294380"/>
                  </a:lnTo>
                  <a:close/>
                </a:path>
              </a:pathLst>
            </a:custGeom>
            <a:solidFill>
              <a:srgbClr val="16865B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927390" y="2479929"/>
            <a:ext cx="4525299" cy="503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172B4D"/>
                </a:solidFill>
                <a:latin typeface="Aptos Bold"/>
                <a:ea typeface="Aptos Bold"/>
                <a:cs typeface="Aptos Bold"/>
                <a:sym typeface="Aptos Bold"/>
              </a:rPr>
              <a:t>Contact table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927390" y="3184198"/>
            <a:ext cx="4497848" cy="1281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5C6B80"/>
                </a:solidFill>
                <a:latin typeface="Aptos"/>
                <a:ea typeface="Aptos"/>
                <a:cs typeface="Aptos"/>
                <a:sym typeface="Aptos"/>
              </a:rPr>
              <a:t>View contact names, email addresses, and phone numbers.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935101" y="2189131"/>
            <a:ext cx="5161817" cy="2485111"/>
            <a:chOff x="0" y="0"/>
            <a:chExt cx="6882422" cy="331348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882384" cy="3313430"/>
            </a:xfrm>
            <a:custGeom>
              <a:avLst/>
              <a:gdLst/>
              <a:ahLst/>
              <a:cxnLst/>
              <a:rect r="r" b="b" t="t" l="l"/>
              <a:pathLst>
                <a:path h="3313430" w="6882384">
                  <a:moveTo>
                    <a:pt x="0" y="552196"/>
                  </a:moveTo>
                  <a:cubicBezTo>
                    <a:pt x="0" y="247269"/>
                    <a:pt x="247269" y="0"/>
                    <a:pt x="552196" y="0"/>
                  </a:cubicBezTo>
                  <a:lnTo>
                    <a:pt x="6330188" y="0"/>
                  </a:lnTo>
                  <a:cubicBezTo>
                    <a:pt x="6635242" y="0"/>
                    <a:pt x="6882384" y="247269"/>
                    <a:pt x="6882384" y="552196"/>
                  </a:cubicBezTo>
                  <a:lnTo>
                    <a:pt x="6882384" y="2761234"/>
                  </a:lnTo>
                  <a:cubicBezTo>
                    <a:pt x="6882384" y="3066288"/>
                    <a:pt x="6635115" y="3313430"/>
                    <a:pt x="6330188" y="3313430"/>
                  </a:cubicBezTo>
                  <a:lnTo>
                    <a:pt x="552196" y="3313430"/>
                  </a:lnTo>
                  <a:cubicBezTo>
                    <a:pt x="247269" y="3313430"/>
                    <a:pt x="0" y="3066288"/>
                    <a:pt x="0" y="2761234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EE5F0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1942245" y="2196274"/>
            <a:ext cx="123539" cy="2470814"/>
            <a:chOff x="0" y="0"/>
            <a:chExt cx="164719" cy="329441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64719" cy="3294380"/>
            </a:xfrm>
            <a:custGeom>
              <a:avLst/>
              <a:gdLst/>
              <a:ahLst/>
              <a:cxnLst/>
              <a:rect r="r" b="b" t="t" l="l"/>
              <a:pathLst>
                <a:path h="3294380" w="164719">
                  <a:moveTo>
                    <a:pt x="0" y="0"/>
                  </a:moveTo>
                  <a:lnTo>
                    <a:pt x="164719" y="0"/>
                  </a:lnTo>
                  <a:lnTo>
                    <a:pt x="164719" y="3294380"/>
                  </a:lnTo>
                  <a:lnTo>
                    <a:pt x="0" y="3294380"/>
                  </a:lnTo>
                  <a:close/>
                </a:path>
              </a:pathLst>
            </a:custGeom>
            <a:solidFill>
              <a:srgbClr val="E5A000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2280811" y="2479929"/>
            <a:ext cx="4525299" cy="503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172B4D"/>
                </a:solidFill>
                <a:latin typeface="Aptos Bold"/>
                <a:ea typeface="Aptos Bold"/>
                <a:cs typeface="Aptos Bold"/>
                <a:sym typeface="Aptos Bold"/>
              </a:rPr>
              <a:t>Search tools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280811" y="3184198"/>
            <a:ext cx="4497848" cy="1281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5C6B80"/>
                </a:solidFill>
                <a:latin typeface="Aptos"/>
                <a:ea typeface="Aptos"/>
                <a:cs typeface="Aptos"/>
                <a:sym typeface="Aptos"/>
              </a:rPr>
              <a:t>Search by name or display all locally saved contacts.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3904964" y="5483542"/>
            <a:ext cx="5161817" cy="2485111"/>
            <a:chOff x="0" y="0"/>
            <a:chExt cx="6882422" cy="331348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882384" cy="3313430"/>
            </a:xfrm>
            <a:custGeom>
              <a:avLst/>
              <a:gdLst/>
              <a:ahLst/>
              <a:cxnLst/>
              <a:rect r="r" b="b" t="t" l="l"/>
              <a:pathLst>
                <a:path h="3313430" w="6882384">
                  <a:moveTo>
                    <a:pt x="0" y="552196"/>
                  </a:moveTo>
                  <a:cubicBezTo>
                    <a:pt x="0" y="247269"/>
                    <a:pt x="247269" y="0"/>
                    <a:pt x="552196" y="0"/>
                  </a:cubicBezTo>
                  <a:lnTo>
                    <a:pt x="6330188" y="0"/>
                  </a:lnTo>
                  <a:cubicBezTo>
                    <a:pt x="6635242" y="0"/>
                    <a:pt x="6882384" y="247269"/>
                    <a:pt x="6882384" y="552196"/>
                  </a:cubicBezTo>
                  <a:lnTo>
                    <a:pt x="6882384" y="2761234"/>
                  </a:lnTo>
                  <a:cubicBezTo>
                    <a:pt x="6882384" y="3066288"/>
                    <a:pt x="6635115" y="3313430"/>
                    <a:pt x="6330188" y="3313430"/>
                  </a:cubicBezTo>
                  <a:lnTo>
                    <a:pt x="552196" y="3313430"/>
                  </a:lnTo>
                  <a:cubicBezTo>
                    <a:pt x="247269" y="3313430"/>
                    <a:pt x="0" y="3066288"/>
                    <a:pt x="0" y="2761234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EE5F0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3912118" y="5490686"/>
            <a:ext cx="123539" cy="2470814"/>
            <a:chOff x="0" y="0"/>
            <a:chExt cx="164719" cy="329441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64719" cy="3294380"/>
            </a:xfrm>
            <a:custGeom>
              <a:avLst/>
              <a:gdLst/>
              <a:ahLst/>
              <a:cxnLst/>
              <a:rect r="r" b="b" t="t" l="l"/>
              <a:pathLst>
                <a:path h="3294380" w="164719">
                  <a:moveTo>
                    <a:pt x="0" y="0"/>
                  </a:moveTo>
                  <a:lnTo>
                    <a:pt x="164719" y="0"/>
                  </a:lnTo>
                  <a:lnTo>
                    <a:pt x="164719" y="3294380"/>
                  </a:lnTo>
                  <a:lnTo>
                    <a:pt x="0" y="3294380"/>
                  </a:lnTo>
                  <a:close/>
                </a:path>
              </a:pathLst>
            </a:custGeom>
            <a:solidFill>
              <a:srgbClr val="D64545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4250684" y="5774341"/>
            <a:ext cx="4525299" cy="503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172B4D"/>
                </a:solidFill>
                <a:latin typeface="Aptos Bold"/>
                <a:ea typeface="Aptos Bold"/>
                <a:cs typeface="Aptos Bold"/>
                <a:sym typeface="Aptos Bold"/>
              </a:rPr>
              <a:t>Action buttons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250684" y="6478610"/>
            <a:ext cx="4497848" cy="1281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5C6B80"/>
                </a:solidFill>
                <a:latin typeface="Aptos"/>
                <a:ea typeface="Aptos"/>
                <a:cs typeface="Aptos"/>
                <a:sym typeface="Aptos"/>
              </a:rPr>
              <a:t>Save, edit selected contact, and delete selected contact.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327023" y="5483542"/>
            <a:ext cx="5161817" cy="2485111"/>
            <a:chOff x="0" y="0"/>
            <a:chExt cx="6882422" cy="33134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882384" cy="3313430"/>
            </a:xfrm>
            <a:custGeom>
              <a:avLst/>
              <a:gdLst/>
              <a:ahLst/>
              <a:cxnLst/>
              <a:rect r="r" b="b" t="t" l="l"/>
              <a:pathLst>
                <a:path h="3313430" w="6882384">
                  <a:moveTo>
                    <a:pt x="0" y="552196"/>
                  </a:moveTo>
                  <a:cubicBezTo>
                    <a:pt x="0" y="247269"/>
                    <a:pt x="247269" y="0"/>
                    <a:pt x="552196" y="0"/>
                  </a:cubicBezTo>
                  <a:lnTo>
                    <a:pt x="6330188" y="0"/>
                  </a:lnTo>
                  <a:cubicBezTo>
                    <a:pt x="6635242" y="0"/>
                    <a:pt x="6882384" y="247269"/>
                    <a:pt x="6882384" y="552196"/>
                  </a:cubicBezTo>
                  <a:lnTo>
                    <a:pt x="6882384" y="2761234"/>
                  </a:lnTo>
                  <a:cubicBezTo>
                    <a:pt x="6882384" y="3066288"/>
                    <a:pt x="6635115" y="3313430"/>
                    <a:pt x="6330188" y="3313430"/>
                  </a:cubicBezTo>
                  <a:lnTo>
                    <a:pt x="552196" y="3313430"/>
                  </a:lnTo>
                  <a:cubicBezTo>
                    <a:pt x="247269" y="3313430"/>
                    <a:pt x="0" y="3066288"/>
                    <a:pt x="0" y="2761234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EE5F0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9334176" y="5490686"/>
            <a:ext cx="123539" cy="2470814"/>
            <a:chOff x="0" y="0"/>
            <a:chExt cx="164719" cy="329441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64719" cy="3294380"/>
            </a:xfrm>
            <a:custGeom>
              <a:avLst/>
              <a:gdLst/>
              <a:ahLst/>
              <a:cxnLst/>
              <a:rect r="r" b="b" t="t" l="l"/>
              <a:pathLst>
                <a:path h="3294380" w="164719">
                  <a:moveTo>
                    <a:pt x="0" y="0"/>
                  </a:moveTo>
                  <a:lnTo>
                    <a:pt x="164719" y="0"/>
                  </a:lnTo>
                  <a:lnTo>
                    <a:pt x="164719" y="3294380"/>
                  </a:lnTo>
                  <a:lnTo>
                    <a:pt x="0" y="3294380"/>
                  </a:lnTo>
                  <a:close/>
                </a:path>
              </a:pathLst>
            </a:custGeom>
            <a:solidFill>
              <a:srgbClr val="2457C5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9672733" y="5774341"/>
            <a:ext cx="4525299" cy="503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172B4D"/>
                </a:solidFill>
                <a:latin typeface="Aptos Bold"/>
                <a:ea typeface="Aptos Bold"/>
                <a:cs typeface="Aptos Bold"/>
                <a:sym typeface="Aptos Bold"/>
              </a:rPr>
              <a:t>API button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672733" y="6478610"/>
            <a:ext cx="4497848" cy="1281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5C6B80"/>
                </a:solidFill>
                <a:latin typeface="Aptos"/>
                <a:ea typeface="Aptos"/>
                <a:cs typeface="Aptos"/>
                <a:sym typeface="Aptos"/>
              </a:rPr>
              <a:t>Load API Contacts fetches sample users into the table.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219627"/>
            <a:chOff x="0" y="0"/>
            <a:chExt cx="24402453" cy="2928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292862"/>
            </a:xfrm>
            <a:custGeom>
              <a:avLst/>
              <a:gdLst/>
              <a:ahLst/>
              <a:cxnLst/>
              <a:rect r="r" b="b" t="t" l="l"/>
              <a:pathLst>
                <a:path h="292862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92862"/>
                  </a:lnTo>
                  <a:lnTo>
                    <a:pt x="0" y="292862"/>
                  </a:lnTo>
                  <a:close/>
                </a:path>
              </a:pathLst>
            </a:custGeom>
            <a:solidFill>
              <a:srgbClr val="2457C5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28811" y="613096"/>
            <a:ext cx="16124387" cy="681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72B4D"/>
                </a:solidFill>
                <a:latin typeface="Aptos Bold"/>
                <a:ea typeface="Aptos Bold"/>
                <a:cs typeface="Aptos Bold"/>
                <a:sym typeface="Aptos Bold"/>
              </a:rPr>
              <a:t>Database Design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69997" y="1409252"/>
            <a:ext cx="15849848" cy="338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5C6B80"/>
                </a:solidFill>
                <a:latin typeface="Aptos"/>
                <a:ea typeface="Aptos"/>
                <a:cs typeface="Aptos"/>
                <a:sym typeface="Aptos"/>
              </a:rPr>
              <a:t>Local storage with SQLite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783183" y="9755095"/>
            <a:ext cx="613181" cy="201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5C6B80"/>
                </a:solidFill>
                <a:latin typeface="Aptos"/>
                <a:ea typeface="Aptos"/>
                <a:cs typeface="Aptos"/>
                <a:sym typeface="Aptos"/>
              </a:rPr>
              <a:t>7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71978" y="2173748"/>
            <a:ext cx="7476544" cy="67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172B4D"/>
                </a:solidFill>
                <a:latin typeface="Aptos Bold"/>
                <a:ea typeface="Aptos Bold"/>
                <a:cs typeface="Aptos Bold"/>
                <a:sym typeface="Aptos Bold"/>
              </a:rPr>
              <a:t>Database file: contacts.db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71978" y="2987821"/>
            <a:ext cx="7476544" cy="613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852" b="true">
                <a:solidFill>
                  <a:srgbClr val="233044"/>
                </a:solidFill>
                <a:latin typeface="Aptos Bold"/>
                <a:ea typeface="Aptos Bold"/>
                <a:cs typeface="Aptos Bold"/>
                <a:sym typeface="Aptos Bold"/>
              </a:rPr>
              <a:t>Table: contacts</a:t>
            </a:r>
          </a:p>
        </p:txBody>
      </p: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1235405" y="3912116"/>
          <a:ext cx="8502943" cy="3355421"/>
        </p:xfrm>
        <a:graphic>
          <a:graphicData uri="http://schemas.openxmlformats.org/drawingml/2006/table">
            <a:tbl>
              <a:tblPr/>
              <a:tblGrid>
                <a:gridCol w="1988591"/>
                <a:gridCol w="2742885"/>
                <a:gridCol w="3771467"/>
              </a:tblGrid>
              <a:tr h="83885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 b="true">
                          <a:solidFill>
                            <a:srgbClr val="FFFFFF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Column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7C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 b="true">
                          <a:solidFill>
                            <a:srgbClr val="FFFFFF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Purpose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7C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 b="true">
                          <a:solidFill>
                            <a:srgbClr val="FFFFFF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Example / rule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7C5"/>
                    </a:solidFill>
                  </a:tcPr>
                </a:tc>
              </a:tr>
              <a:tr h="83885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33044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id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33044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Unique record ID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33044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Auto-increment primary key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885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33044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name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33044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Contact name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33044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Required field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F"/>
                    </a:solidFill>
                  </a:tcPr>
                </a:tc>
              </a:tr>
              <a:tr h="83885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33044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email / phone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33044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Contact details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33044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Phone is required; email optional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0" id="10"/>
          <p:cNvGrpSpPr/>
          <p:nvPr/>
        </p:nvGrpSpPr>
        <p:grpSpPr>
          <a:xfrm rot="0">
            <a:off x="10425160" y="3012729"/>
            <a:ext cx="5916787" cy="3583248"/>
            <a:chOff x="0" y="0"/>
            <a:chExt cx="7889049" cy="477766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889113" cy="4777613"/>
            </a:xfrm>
            <a:custGeom>
              <a:avLst/>
              <a:gdLst/>
              <a:ahLst/>
              <a:cxnLst/>
              <a:rect r="r" b="b" t="t" l="l"/>
              <a:pathLst>
                <a:path h="4777613" w="7889113">
                  <a:moveTo>
                    <a:pt x="0" y="796290"/>
                  </a:moveTo>
                  <a:cubicBezTo>
                    <a:pt x="0" y="356489"/>
                    <a:pt x="356489" y="0"/>
                    <a:pt x="796290" y="0"/>
                  </a:cubicBezTo>
                  <a:lnTo>
                    <a:pt x="7092823" y="0"/>
                  </a:lnTo>
                  <a:cubicBezTo>
                    <a:pt x="7532624" y="0"/>
                    <a:pt x="7889113" y="356489"/>
                    <a:pt x="7889113" y="796290"/>
                  </a:cubicBezTo>
                  <a:lnTo>
                    <a:pt x="7889113" y="3981323"/>
                  </a:lnTo>
                  <a:cubicBezTo>
                    <a:pt x="7889113" y="4421124"/>
                    <a:pt x="7532624" y="4777613"/>
                    <a:pt x="7092823" y="4777613"/>
                  </a:cubicBezTo>
                  <a:lnTo>
                    <a:pt x="796290" y="4777613"/>
                  </a:lnTo>
                  <a:cubicBezTo>
                    <a:pt x="356489" y="4777613"/>
                    <a:pt x="0" y="4421124"/>
                    <a:pt x="0" y="3981323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EE5F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0432313" y="3019882"/>
            <a:ext cx="123539" cy="3568951"/>
            <a:chOff x="0" y="0"/>
            <a:chExt cx="164719" cy="475860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4719" cy="4758563"/>
            </a:xfrm>
            <a:custGeom>
              <a:avLst/>
              <a:gdLst/>
              <a:ahLst/>
              <a:cxnLst/>
              <a:rect r="r" b="b" t="t" l="l"/>
              <a:pathLst>
                <a:path h="4758563" w="164719">
                  <a:moveTo>
                    <a:pt x="0" y="0"/>
                  </a:moveTo>
                  <a:lnTo>
                    <a:pt x="164719" y="0"/>
                  </a:lnTo>
                  <a:lnTo>
                    <a:pt x="164719" y="4758563"/>
                  </a:lnTo>
                  <a:lnTo>
                    <a:pt x="0" y="4758563"/>
                  </a:lnTo>
                  <a:close/>
                </a:path>
              </a:pathLst>
            </a:custGeom>
            <a:solidFill>
              <a:srgbClr val="16865B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770870" y="3303537"/>
            <a:ext cx="5280269" cy="503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172B4D"/>
                </a:solidFill>
                <a:latin typeface="Aptos Bold"/>
                <a:ea typeface="Aptos Bold"/>
                <a:cs typeface="Aptos Bold"/>
                <a:sym typeface="Aptos Bold"/>
              </a:rPr>
              <a:t>Why SQLite?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770870" y="4007806"/>
            <a:ext cx="5252818" cy="2379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5C6B80"/>
                </a:solidFill>
                <a:latin typeface="Aptos"/>
                <a:ea typeface="Aptos"/>
                <a:cs typeface="Aptos"/>
                <a:sym typeface="Aptos"/>
              </a:rPr>
              <a:t>• Lightweight and included with Python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5C6B80"/>
                </a:solidFill>
                <a:latin typeface="Aptos"/>
                <a:ea typeface="Aptos"/>
                <a:cs typeface="Aptos"/>
                <a:sym typeface="Aptos"/>
              </a:rPr>
              <a:t>• Stores data locally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5C6B80"/>
                </a:solidFill>
                <a:latin typeface="Aptos"/>
                <a:ea typeface="Aptos"/>
                <a:cs typeface="Aptos"/>
                <a:sym typeface="Aptos"/>
              </a:rPr>
              <a:t>• No separate database server required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537517" y="7105840"/>
            <a:ext cx="5554799" cy="88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5C6B80"/>
                </a:solidFill>
                <a:latin typeface="Aptos"/>
                <a:ea typeface="Aptos"/>
                <a:cs typeface="Aptos"/>
                <a:sym typeface="Aptos"/>
              </a:rPr>
              <a:t>The database file is kept in the project folder.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219627"/>
            <a:chOff x="0" y="0"/>
            <a:chExt cx="24402453" cy="2928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292862"/>
            </a:xfrm>
            <a:custGeom>
              <a:avLst/>
              <a:gdLst/>
              <a:ahLst/>
              <a:cxnLst/>
              <a:rect r="r" b="b" t="t" l="l"/>
              <a:pathLst>
                <a:path h="292862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92862"/>
                  </a:lnTo>
                  <a:lnTo>
                    <a:pt x="0" y="292862"/>
                  </a:lnTo>
                  <a:close/>
                </a:path>
              </a:pathLst>
            </a:custGeom>
            <a:solidFill>
              <a:srgbClr val="2457C5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28811" y="613096"/>
            <a:ext cx="16124387" cy="681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72B4D"/>
                </a:solidFill>
                <a:latin typeface="Aptos Bold"/>
                <a:ea typeface="Aptos Bold"/>
                <a:cs typeface="Aptos Bold"/>
                <a:sym typeface="Aptos Bold"/>
              </a:rPr>
              <a:t>Contact Management (CRUD)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69997" y="1409252"/>
            <a:ext cx="15849848" cy="338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5C6B80"/>
                </a:solidFill>
                <a:latin typeface="Aptos"/>
                <a:ea typeface="Aptos"/>
                <a:cs typeface="Aptos"/>
                <a:sym typeface="Aptos"/>
              </a:rPr>
              <a:t>Core operations implemented in the application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783183" y="9755095"/>
            <a:ext cx="613181" cy="201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5C6B80"/>
                </a:solidFill>
                <a:latin typeface="Aptos"/>
                <a:ea typeface="Aptos"/>
                <a:cs typeface="Aptos"/>
                <a:sym typeface="Aptos"/>
              </a:rPr>
              <a:t>8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28258" y="2395023"/>
            <a:ext cx="7632630" cy="2416473"/>
            <a:chOff x="0" y="0"/>
            <a:chExt cx="10176840" cy="32219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176764" cy="3221863"/>
            </a:xfrm>
            <a:custGeom>
              <a:avLst/>
              <a:gdLst/>
              <a:ahLst/>
              <a:cxnLst/>
              <a:rect r="r" b="b" t="t" l="l"/>
              <a:pathLst>
                <a:path h="3221863" w="10176764">
                  <a:moveTo>
                    <a:pt x="0" y="536956"/>
                  </a:moveTo>
                  <a:cubicBezTo>
                    <a:pt x="0" y="240411"/>
                    <a:pt x="240411" y="0"/>
                    <a:pt x="536956" y="0"/>
                  </a:cubicBezTo>
                  <a:lnTo>
                    <a:pt x="9639808" y="0"/>
                  </a:lnTo>
                  <a:cubicBezTo>
                    <a:pt x="9936352" y="0"/>
                    <a:pt x="10176764" y="240411"/>
                    <a:pt x="10176764" y="536956"/>
                  </a:cubicBezTo>
                  <a:lnTo>
                    <a:pt x="10176764" y="2684907"/>
                  </a:lnTo>
                  <a:cubicBezTo>
                    <a:pt x="10176764" y="2981452"/>
                    <a:pt x="9936352" y="3221863"/>
                    <a:pt x="9639808" y="3221863"/>
                  </a:cubicBezTo>
                  <a:lnTo>
                    <a:pt x="536956" y="3221863"/>
                  </a:lnTo>
                  <a:cubicBezTo>
                    <a:pt x="240411" y="3221990"/>
                    <a:pt x="0" y="2981579"/>
                    <a:pt x="0" y="2684907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EE5F0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235402" y="2402176"/>
            <a:ext cx="123539" cy="2402176"/>
            <a:chOff x="0" y="0"/>
            <a:chExt cx="164719" cy="320290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4719" cy="3202940"/>
            </a:xfrm>
            <a:custGeom>
              <a:avLst/>
              <a:gdLst/>
              <a:ahLst/>
              <a:cxnLst/>
              <a:rect r="r" b="b" t="t" l="l"/>
              <a:pathLst>
                <a:path h="3202940" w="164719">
                  <a:moveTo>
                    <a:pt x="0" y="0"/>
                  </a:moveTo>
                  <a:lnTo>
                    <a:pt x="164719" y="0"/>
                  </a:lnTo>
                  <a:lnTo>
                    <a:pt x="164719" y="3202940"/>
                  </a:lnTo>
                  <a:lnTo>
                    <a:pt x="0" y="3202940"/>
                  </a:lnTo>
                  <a:close/>
                </a:path>
              </a:pathLst>
            </a:custGeom>
            <a:solidFill>
              <a:srgbClr val="2457C5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573968" y="2685831"/>
            <a:ext cx="6996112" cy="503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172B4D"/>
                </a:solidFill>
                <a:latin typeface="Aptos Bold"/>
                <a:ea typeface="Aptos Bold"/>
                <a:cs typeface="Aptos Bold"/>
                <a:sym typeface="Aptos Bold"/>
              </a:rPr>
              <a:t>CREATE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73968" y="3390100"/>
            <a:ext cx="6968661" cy="1212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5C6B80"/>
                </a:solidFill>
                <a:latin typeface="Aptos"/>
                <a:ea typeface="Aptos"/>
                <a:cs typeface="Aptos"/>
                <a:sym typeface="Aptos"/>
              </a:rPr>
              <a:t>Save a new contact</a:t>
            </a:r>
          </a:p>
          <a:p>
            <a:pPr algn="l">
              <a:lnSpc>
                <a:spcPts val="2521"/>
              </a:lnSpc>
            </a:pP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5C6B80"/>
                </a:solidFill>
                <a:latin typeface="Aptos"/>
                <a:ea typeface="Aptos"/>
                <a:cs typeface="Aptos"/>
                <a:sym typeface="Aptos"/>
              </a:rPr>
              <a:t>Name and phone number must be entered.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327023" y="2395023"/>
            <a:ext cx="7632630" cy="2416473"/>
            <a:chOff x="0" y="0"/>
            <a:chExt cx="10176840" cy="32219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176764" cy="3221863"/>
            </a:xfrm>
            <a:custGeom>
              <a:avLst/>
              <a:gdLst/>
              <a:ahLst/>
              <a:cxnLst/>
              <a:rect r="r" b="b" t="t" l="l"/>
              <a:pathLst>
                <a:path h="3221863" w="10176764">
                  <a:moveTo>
                    <a:pt x="0" y="536956"/>
                  </a:moveTo>
                  <a:cubicBezTo>
                    <a:pt x="0" y="240411"/>
                    <a:pt x="240411" y="0"/>
                    <a:pt x="536956" y="0"/>
                  </a:cubicBezTo>
                  <a:lnTo>
                    <a:pt x="9639808" y="0"/>
                  </a:lnTo>
                  <a:cubicBezTo>
                    <a:pt x="9936352" y="0"/>
                    <a:pt x="10176764" y="240411"/>
                    <a:pt x="10176764" y="536956"/>
                  </a:cubicBezTo>
                  <a:lnTo>
                    <a:pt x="10176764" y="2684907"/>
                  </a:lnTo>
                  <a:cubicBezTo>
                    <a:pt x="10176764" y="2981452"/>
                    <a:pt x="9936352" y="3221863"/>
                    <a:pt x="9639808" y="3221863"/>
                  </a:cubicBezTo>
                  <a:lnTo>
                    <a:pt x="536956" y="3221863"/>
                  </a:lnTo>
                  <a:cubicBezTo>
                    <a:pt x="240411" y="3221990"/>
                    <a:pt x="0" y="2981579"/>
                    <a:pt x="0" y="2684907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EE5F0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9334176" y="2402176"/>
            <a:ext cx="123539" cy="2402176"/>
            <a:chOff x="0" y="0"/>
            <a:chExt cx="164719" cy="320290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4719" cy="3202940"/>
            </a:xfrm>
            <a:custGeom>
              <a:avLst/>
              <a:gdLst/>
              <a:ahLst/>
              <a:cxnLst/>
              <a:rect r="r" b="b" t="t" l="l"/>
              <a:pathLst>
                <a:path h="3202940" w="164719">
                  <a:moveTo>
                    <a:pt x="0" y="0"/>
                  </a:moveTo>
                  <a:lnTo>
                    <a:pt x="164719" y="0"/>
                  </a:lnTo>
                  <a:lnTo>
                    <a:pt x="164719" y="3202940"/>
                  </a:lnTo>
                  <a:lnTo>
                    <a:pt x="0" y="3202940"/>
                  </a:lnTo>
                  <a:close/>
                </a:path>
              </a:pathLst>
            </a:custGeom>
            <a:solidFill>
              <a:srgbClr val="16865B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672733" y="2685831"/>
            <a:ext cx="6996112" cy="503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172B4D"/>
                </a:solidFill>
                <a:latin typeface="Aptos Bold"/>
                <a:ea typeface="Aptos Bold"/>
                <a:cs typeface="Aptos Bold"/>
                <a:sym typeface="Aptos Bold"/>
              </a:rPr>
              <a:t>READ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672733" y="3390100"/>
            <a:ext cx="6968661" cy="1212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5C6B80"/>
                </a:solidFill>
                <a:latin typeface="Aptos"/>
                <a:ea typeface="Aptos"/>
                <a:cs typeface="Aptos"/>
                <a:sym typeface="Aptos"/>
              </a:rPr>
              <a:t>View and search contacts</a:t>
            </a:r>
          </a:p>
          <a:p>
            <a:pPr algn="l">
              <a:lnSpc>
                <a:spcPts val="2521"/>
              </a:lnSpc>
            </a:pP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5C6B80"/>
                </a:solidFill>
                <a:latin typeface="Aptos"/>
                <a:ea typeface="Aptos"/>
                <a:cs typeface="Aptos"/>
                <a:sym typeface="Aptos"/>
              </a:rPr>
              <a:t>Show saved records or filter by name.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28258" y="5483542"/>
            <a:ext cx="7632630" cy="2416473"/>
            <a:chOff x="0" y="0"/>
            <a:chExt cx="10176840" cy="322196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176764" cy="3221863"/>
            </a:xfrm>
            <a:custGeom>
              <a:avLst/>
              <a:gdLst/>
              <a:ahLst/>
              <a:cxnLst/>
              <a:rect r="r" b="b" t="t" l="l"/>
              <a:pathLst>
                <a:path h="3221863" w="10176764">
                  <a:moveTo>
                    <a:pt x="0" y="536956"/>
                  </a:moveTo>
                  <a:cubicBezTo>
                    <a:pt x="0" y="240411"/>
                    <a:pt x="240411" y="0"/>
                    <a:pt x="536956" y="0"/>
                  </a:cubicBezTo>
                  <a:lnTo>
                    <a:pt x="9639808" y="0"/>
                  </a:lnTo>
                  <a:cubicBezTo>
                    <a:pt x="9936352" y="0"/>
                    <a:pt x="10176764" y="240411"/>
                    <a:pt x="10176764" y="536956"/>
                  </a:cubicBezTo>
                  <a:lnTo>
                    <a:pt x="10176764" y="2684907"/>
                  </a:lnTo>
                  <a:cubicBezTo>
                    <a:pt x="10176764" y="2981452"/>
                    <a:pt x="9936352" y="3221863"/>
                    <a:pt x="9639808" y="3221863"/>
                  </a:cubicBezTo>
                  <a:lnTo>
                    <a:pt x="536956" y="3221863"/>
                  </a:lnTo>
                  <a:cubicBezTo>
                    <a:pt x="240411" y="3221990"/>
                    <a:pt x="0" y="2981579"/>
                    <a:pt x="0" y="2684907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EE5F0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235402" y="5490686"/>
            <a:ext cx="123539" cy="2402176"/>
            <a:chOff x="0" y="0"/>
            <a:chExt cx="164719" cy="320290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64719" cy="3202940"/>
            </a:xfrm>
            <a:custGeom>
              <a:avLst/>
              <a:gdLst/>
              <a:ahLst/>
              <a:cxnLst/>
              <a:rect r="r" b="b" t="t" l="l"/>
              <a:pathLst>
                <a:path h="3202940" w="164719">
                  <a:moveTo>
                    <a:pt x="0" y="0"/>
                  </a:moveTo>
                  <a:lnTo>
                    <a:pt x="164719" y="0"/>
                  </a:lnTo>
                  <a:lnTo>
                    <a:pt x="164719" y="3202940"/>
                  </a:lnTo>
                  <a:lnTo>
                    <a:pt x="0" y="3202940"/>
                  </a:lnTo>
                  <a:close/>
                </a:path>
              </a:pathLst>
            </a:custGeom>
            <a:solidFill>
              <a:srgbClr val="E5A000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573968" y="5774341"/>
            <a:ext cx="6996112" cy="503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172B4D"/>
                </a:solidFill>
                <a:latin typeface="Aptos Bold"/>
                <a:ea typeface="Aptos Bold"/>
                <a:cs typeface="Aptos Bold"/>
                <a:sym typeface="Aptos Bold"/>
              </a:rPr>
              <a:t>UPDATE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73968" y="6478610"/>
            <a:ext cx="6968661" cy="1212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5C6B80"/>
                </a:solidFill>
                <a:latin typeface="Aptos"/>
                <a:ea typeface="Aptos"/>
                <a:cs typeface="Aptos"/>
                <a:sym typeface="Aptos"/>
              </a:rPr>
              <a:t>Edit selected contact</a:t>
            </a:r>
          </a:p>
          <a:p>
            <a:pPr algn="l">
              <a:lnSpc>
                <a:spcPts val="2521"/>
              </a:lnSpc>
            </a:pP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5C6B80"/>
                </a:solidFill>
                <a:latin typeface="Aptos"/>
                <a:ea typeface="Aptos"/>
                <a:cs typeface="Aptos"/>
                <a:sym typeface="Aptos"/>
              </a:rPr>
              <a:t>Change contact details and save updates.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327023" y="5483542"/>
            <a:ext cx="7632630" cy="2416473"/>
            <a:chOff x="0" y="0"/>
            <a:chExt cx="10176840" cy="322196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176764" cy="3221863"/>
            </a:xfrm>
            <a:custGeom>
              <a:avLst/>
              <a:gdLst/>
              <a:ahLst/>
              <a:cxnLst/>
              <a:rect r="r" b="b" t="t" l="l"/>
              <a:pathLst>
                <a:path h="3221863" w="10176764">
                  <a:moveTo>
                    <a:pt x="0" y="536956"/>
                  </a:moveTo>
                  <a:cubicBezTo>
                    <a:pt x="0" y="240411"/>
                    <a:pt x="240411" y="0"/>
                    <a:pt x="536956" y="0"/>
                  </a:cubicBezTo>
                  <a:lnTo>
                    <a:pt x="9639808" y="0"/>
                  </a:lnTo>
                  <a:cubicBezTo>
                    <a:pt x="9936352" y="0"/>
                    <a:pt x="10176764" y="240411"/>
                    <a:pt x="10176764" y="536956"/>
                  </a:cubicBezTo>
                  <a:lnTo>
                    <a:pt x="10176764" y="2684907"/>
                  </a:lnTo>
                  <a:cubicBezTo>
                    <a:pt x="10176764" y="2981452"/>
                    <a:pt x="9936352" y="3221863"/>
                    <a:pt x="9639808" y="3221863"/>
                  </a:cubicBezTo>
                  <a:lnTo>
                    <a:pt x="536956" y="3221863"/>
                  </a:lnTo>
                  <a:cubicBezTo>
                    <a:pt x="240411" y="3221990"/>
                    <a:pt x="0" y="2981579"/>
                    <a:pt x="0" y="2684907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EE5F0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9334176" y="5490686"/>
            <a:ext cx="123539" cy="2402176"/>
            <a:chOff x="0" y="0"/>
            <a:chExt cx="164719" cy="320290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64719" cy="3202940"/>
            </a:xfrm>
            <a:custGeom>
              <a:avLst/>
              <a:gdLst/>
              <a:ahLst/>
              <a:cxnLst/>
              <a:rect r="r" b="b" t="t" l="l"/>
              <a:pathLst>
                <a:path h="3202940" w="164719">
                  <a:moveTo>
                    <a:pt x="0" y="0"/>
                  </a:moveTo>
                  <a:lnTo>
                    <a:pt x="164719" y="0"/>
                  </a:lnTo>
                  <a:lnTo>
                    <a:pt x="164719" y="3202940"/>
                  </a:lnTo>
                  <a:lnTo>
                    <a:pt x="0" y="3202940"/>
                  </a:lnTo>
                  <a:close/>
                </a:path>
              </a:pathLst>
            </a:custGeom>
            <a:solidFill>
              <a:srgbClr val="D64545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9672733" y="5774341"/>
            <a:ext cx="6996112" cy="503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172B4D"/>
                </a:solidFill>
                <a:latin typeface="Aptos Bold"/>
                <a:ea typeface="Aptos Bold"/>
                <a:cs typeface="Aptos Bold"/>
                <a:sym typeface="Aptos Bold"/>
              </a:rPr>
              <a:t>DELETE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672733" y="6478610"/>
            <a:ext cx="6968661" cy="1212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5C6B80"/>
                </a:solidFill>
                <a:latin typeface="Aptos"/>
                <a:ea typeface="Aptos"/>
                <a:cs typeface="Aptos"/>
                <a:sym typeface="Aptos"/>
              </a:rPr>
              <a:t>Delete selected contact</a:t>
            </a:r>
          </a:p>
          <a:p>
            <a:pPr algn="l">
              <a:lnSpc>
                <a:spcPts val="2521"/>
              </a:lnSpc>
            </a:pP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5C6B80"/>
                </a:solidFill>
                <a:latin typeface="Aptos"/>
                <a:ea typeface="Aptos"/>
                <a:cs typeface="Aptos"/>
                <a:sym typeface="Aptos"/>
              </a:rPr>
              <a:t>Ask for confirmation before deleting.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219627"/>
            <a:chOff x="0" y="0"/>
            <a:chExt cx="24402453" cy="2928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292862"/>
            </a:xfrm>
            <a:custGeom>
              <a:avLst/>
              <a:gdLst/>
              <a:ahLst/>
              <a:cxnLst/>
              <a:rect r="r" b="b" t="t" l="l"/>
              <a:pathLst>
                <a:path h="292862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92862"/>
                  </a:lnTo>
                  <a:lnTo>
                    <a:pt x="0" y="292862"/>
                  </a:lnTo>
                  <a:close/>
                </a:path>
              </a:pathLst>
            </a:custGeom>
            <a:solidFill>
              <a:srgbClr val="2457C5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28811" y="613096"/>
            <a:ext cx="16124387" cy="681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72B4D"/>
                </a:solidFill>
                <a:latin typeface="Aptos Bold"/>
                <a:ea typeface="Aptos Bold"/>
                <a:cs typeface="Aptos Bold"/>
                <a:sym typeface="Aptos Bold"/>
              </a:rPr>
              <a:t>REST API Integration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69997" y="1409252"/>
            <a:ext cx="15849848" cy="338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5C6B80"/>
                </a:solidFill>
                <a:latin typeface="Aptos"/>
                <a:ea typeface="Aptos"/>
                <a:cs typeface="Aptos"/>
                <a:sym typeface="Aptos"/>
              </a:rPr>
              <a:t>Fetching sample contact data from the internet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783183" y="9755095"/>
            <a:ext cx="613181" cy="201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5C6B80"/>
                </a:solidFill>
                <a:latin typeface="Aptos"/>
                <a:ea typeface="Aptos"/>
                <a:cs typeface="Aptos"/>
                <a:sym typeface="Aptos"/>
              </a:rPr>
              <a:t>9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71978" y="2164223"/>
            <a:ext cx="15849848" cy="750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5C6B80"/>
                </a:solidFill>
                <a:latin typeface="Aptos Bold"/>
                <a:ea typeface="Aptos Bold"/>
                <a:cs typeface="Aptos Bold"/>
                <a:sym typeface="Aptos Bold"/>
              </a:rPr>
              <a:t>API endpoint used: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71978" y="2850556"/>
            <a:ext cx="15849848" cy="750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2"/>
              </a:lnSpc>
            </a:pPr>
            <a:r>
              <a:rPr lang="en-US" sz="3152" b="true">
                <a:solidFill>
                  <a:srgbClr val="2457C5"/>
                </a:solidFill>
                <a:latin typeface="Aptos Bold"/>
                <a:ea typeface="Aptos Bold"/>
                <a:cs typeface="Aptos Bold"/>
                <a:sym typeface="Aptos Bold"/>
              </a:rPr>
              <a:t>https://jsonplaceholder.typicode.com/users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08554" y="3966982"/>
            <a:ext cx="15502166" cy="4575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33044"/>
                </a:solidFill>
                <a:latin typeface="Aptos"/>
                <a:ea typeface="Aptos"/>
                <a:cs typeface="Aptos"/>
                <a:sym typeface="Aptos"/>
              </a:rPr>
              <a:t>The Requests library sends an HTTP GET request.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33044"/>
                </a:solidFill>
                <a:latin typeface="Aptos"/>
                <a:ea typeface="Aptos"/>
                <a:cs typeface="Aptos"/>
                <a:sym typeface="Aptos"/>
              </a:rPr>
              <a:t>The API returns sample users in JSON format.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33044"/>
                </a:solidFill>
                <a:latin typeface="Aptos"/>
                <a:ea typeface="Aptos"/>
                <a:cs typeface="Aptos"/>
                <a:sym typeface="Aptos"/>
              </a:rPr>
              <a:t>The response is checked for errors before processing.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33044"/>
                </a:solidFill>
                <a:latin typeface="Aptos"/>
                <a:ea typeface="Aptos"/>
                <a:cs typeface="Aptos"/>
                <a:sym typeface="Aptos"/>
              </a:rPr>
              <a:t>Name, email, and phone values are displayed in the contact table.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33044"/>
                </a:solidFill>
                <a:latin typeface="Aptos"/>
                <a:ea typeface="Aptos"/>
                <a:cs typeface="Aptos"/>
                <a:sym typeface="Aptos"/>
              </a:rPr>
              <a:t>API data is read-only in this project and is not saved to SQLite.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219627"/>
            <a:chOff x="0" y="0"/>
            <a:chExt cx="24402453" cy="2928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292862"/>
            </a:xfrm>
            <a:custGeom>
              <a:avLst/>
              <a:gdLst/>
              <a:ahLst/>
              <a:cxnLst/>
              <a:rect r="r" b="b" t="t" l="l"/>
              <a:pathLst>
                <a:path h="292862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92862"/>
                  </a:lnTo>
                  <a:lnTo>
                    <a:pt x="0" y="292862"/>
                  </a:lnTo>
                  <a:close/>
                </a:path>
              </a:pathLst>
            </a:custGeom>
            <a:solidFill>
              <a:srgbClr val="2457C5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28811" y="613096"/>
            <a:ext cx="16124387" cy="681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72B4D"/>
                </a:solidFill>
                <a:latin typeface="Aptos Bold"/>
                <a:ea typeface="Aptos Bold"/>
                <a:cs typeface="Aptos Bold"/>
                <a:sym typeface="Aptos Bold"/>
              </a:rPr>
              <a:t>Validation and Error Handling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69997" y="1409252"/>
            <a:ext cx="15849848" cy="338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5C6B80"/>
                </a:solidFill>
                <a:latin typeface="Aptos"/>
                <a:ea typeface="Aptos"/>
                <a:cs typeface="Aptos"/>
                <a:sym typeface="Aptos"/>
              </a:rPr>
              <a:t>Keeping common mistakes under control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783183" y="9755095"/>
            <a:ext cx="613181" cy="201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5C6B80"/>
                </a:solidFill>
                <a:latin typeface="Aptos"/>
                <a:ea typeface="Aptos"/>
                <a:cs typeface="Aptos"/>
                <a:sym typeface="Aptos"/>
              </a:rPr>
              <a:t>10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28258" y="2257758"/>
            <a:ext cx="5161817" cy="2759640"/>
            <a:chOff x="0" y="0"/>
            <a:chExt cx="6882422" cy="3679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882384" cy="3679571"/>
            </a:xfrm>
            <a:custGeom>
              <a:avLst/>
              <a:gdLst/>
              <a:ahLst/>
              <a:cxnLst/>
              <a:rect r="r" b="b" t="t" l="l"/>
              <a:pathLst>
                <a:path h="3679571" w="6882384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6269101" y="0"/>
                  </a:lnTo>
                  <a:cubicBezTo>
                    <a:pt x="6607810" y="0"/>
                    <a:pt x="6882384" y="274574"/>
                    <a:pt x="6882384" y="613283"/>
                  </a:cubicBezTo>
                  <a:lnTo>
                    <a:pt x="6882384" y="3066288"/>
                  </a:lnTo>
                  <a:cubicBezTo>
                    <a:pt x="6882384" y="3404997"/>
                    <a:pt x="6607810" y="3679571"/>
                    <a:pt x="6269101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EE5F0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235402" y="2264912"/>
            <a:ext cx="123539" cy="2745343"/>
            <a:chOff x="0" y="0"/>
            <a:chExt cx="164719" cy="36604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4719" cy="3660521"/>
            </a:xfrm>
            <a:custGeom>
              <a:avLst/>
              <a:gdLst/>
              <a:ahLst/>
              <a:cxnLst/>
              <a:rect r="r" b="b" t="t" l="l"/>
              <a:pathLst>
                <a:path h="3660521" w="164719">
                  <a:moveTo>
                    <a:pt x="0" y="0"/>
                  </a:moveTo>
                  <a:lnTo>
                    <a:pt x="164719" y="0"/>
                  </a:lnTo>
                  <a:lnTo>
                    <a:pt x="164719" y="3660521"/>
                  </a:lnTo>
                  <a:lnTo>
                    <a:pt x="0" y="3660521"/>
                  </a:lnTo>
                  <a:close/>
                </a:path>
              </a:pathLst>
            </a:custGeom>
            <a:solidFill>
              <a:srgbClr val="2457C5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573968" y="2548566"/>
            <a:ext cx="4525299" cy="503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172B4D"/>
                </a:solidFill>
                <a:latin typeface="Aptos Bold"/>
                <a:ea typeface="Aptos Bold"/>
                <a:cs typeface="Aptos Bold"/>
                <a:sym typeface="Aptos Bold"/>
              </a:rPr>
              <a:t>Required fields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73968" y="3252826"/>
            <a:ext cx="4497848" cy="1556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5C6B80"/>
                </a:solidFill>
                <a:latin typeface="Aptos"/>
                <a:ea typeface="Aptos"/>
                <a:cs typeface="Aptos"/>
                <a:sym typeface="Aptos"/>
              </a:rPr>
              <a:t>Name and phone number must not be empty when saving or editing.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581680" y="2257758"/>
            <a:ext cx="5161817" cy="2759640"/>
            <a:chOff x="0" y="0"/>
            <a:chExt cx="6882422" cy="3679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882384" cy="3679571"/>
            </a:xfrm>
            <a:custGeom>
              <a:avLst/>
              <a:gdLst/>
              <a:ahLst/>
              <a:cxnLst/>
              <a:rect r="r" b="b" t="t" l="l"/>
              <a:pathLst>
                <a:path h="3679571" w="6882384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6269101" y="0"/>
                  </a:lnTo>
                  <a:cubicBezTo>
                    <a:pt x="6607810" y="0"/>
                    <a:pt x="6882384" y="274574"/>
                    <a:pt x="6882384" y="613283"/>
                  </a:cubicBezTo>
                  <a:lnTo>
                    <a:pt x="6882384" y="3066288"/>
                  </a:lnTo>
                  <a:cubicBezTo>
                    <a:pt x="6882384" y="3404997"/>
                    <a:pt x="6607810" y="3679571"/>
                    <a:pt x="6269101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EE5F0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588824" y="2264912"/>
            <a:ext cx="123539" cy="2745343"/>
            <a:chOff x="0" y="0"/>
            <a:chExt cx="164719" cy="366045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4719" cy="3660521"/>
            </a:xfrm>
            <a:custGeom>
              <a:avLst/>
              <a:gdLst/>
              <a:ahLst/>
              <a:cxnLst/>
              <a:rect r="r" b="b" t="t" l="l"/>
              <a:pathLst>
                <a:path h="3660521" w="164719">
                  <a:moveTo>
                    <a:pt x="0" y="0"/>
                  </a:moveTo>
                  <a:lnTo>
                    <a:pt x="164719" y="0"/>
                  </a:lnTo>
                  <a:lnTo>
                    <a:pt x="164719" y="3660521"/>
                  </a:lnTo>
                  <a:lnTo>
                    <a:pt x="0" y="3660521"/>
                  </a:lnTo>
                  <a:close/>
                </a:path>
              </a:pathLst>
            </a:custGeom>
            <a:solidFill>
              <a:srgbClr val="E5A000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927390" y="2548566"/>
            <a:ext cx="4525299" cy="503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172B4D"/>
                </a:solidFill>
                <a:latin typeface="Aptos Bold"/>
                <a:ea typeface="Aptos Bold"/>
                <a:cs typeface="Aptos Bold"/>
                <a:sym typeface="Aptos Bold"/>
              </a:rPr>
              <a:t>Confirmation prompts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927390" y="3252826"/>
            <a:ext cx="4497848" cy="1556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5C6B80"/>
                </a:solidFill>
                <a:latin typeface="Aptos"/>
                <a:ea typeface="Aptos"/>
                <a:cs typeface="Aptos"/>
                <a:sym typeface="Aptos"/>
              </a:rPr>
              <a:t>The app asks before deleting a selected local contact.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935101" y="2257758"/>
            <a:ext cx="5161817" cy="2759640"/>
            <a:chOff x="0" y="0"/>
            <a:chExt cx="6882422" cy="3679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882384" cy="3679571"/>
            </a:xfrm>
            <a:custGeom>
              <a:avLst/>
              <a:gdLst/>
              <a:ahLst/>
              <a:cxnLst/>
              <a:rect r="r" b="b" t="t" l="l"/>
              <a:pathLst>
                <a:path h="3679571" w="6882384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6269101" y="0"/>
                  </a:lnTo>
                  <a:cubicBezTo>
                    <a:pt x="6607810" y="0"/>
                    <a:pt x="6882384" y="274574"/>
                    <a:pt x="6882384" y="613283"/>
                  </a:cubicBezTo>
                  <a:lnTo>
                    <a:pt x="6882384" y="3066288"/>
                  </a:lnTo>
                  <a:cubicBezTo>
                    <a:pt x="6882384" y="3404997"/>
                    <a:pt x="6607810" y="3679571"/>
                    <a:pt x="6269101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EE5F0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1942245" y="2264912"/>
            <a:ext cx="123539" cy="2745343"/>
            <a:chOff x="0" y="0"/>
            <a:chExt cx="164719" cy="366045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64719" cy="3660521"/>
            </a:xfrm>
            <a:custGeom>
              <a:avLst/>
              <a:gdLst/>
              <a:ahLst/>
              <a:cxnLst/>
              <a:rect r="r" b="b" t="t" l="l"/>
              <a:pathLst>
                <a:path h="3660521" w="164719">
                  <a:moveTo>
                    <a:pt x="0" y="0"/>
                  </a:moveTo>
                  <a:lnTo>
                    <a:pt x="164719" y="0"/>
                  </a:lnTo>
                  <a:lnTo>
                    <a:pt x="164719" y="3660521"/>
                  </a:lnTo>
                  <a:lnTo>
                    <a:pt x="0" y="3660521"/>
                  </a:lnTo>
                  <a:close/>
                </a:path>
              </a:pathLst>
            </a:custGeom>
            <a:solidFill>
              <a:srgbClr val="D64545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2280811" y="2548566"/>
            <a:ext cx="4525299" cy="503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172B4D"/>
                </a:solidFill>
                <a:latin typeface="Aptos Bold"/>
                <a:ea typeface="Aptos Bold"/>
                <a:cs typeface="Aptos Bold"/>
                <a:sym typeface="Aptos Bold"/>
              </a:rPr>
              <a:t>Database errors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280811" y="3252826"/>
            <a:ext cx="4497848" cy="1556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5C6B80"/>
                </a:solidFill>
                <a:latin typeface="Aptos"/>
                <a:ea typeface="Aptos"/>
                <a:cs typeface="Aptos"/>
                <a:sym typeface="Aptos"/>
              </a:rPr>
              <a:t>SQLite errors are shown through message boxes.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3904964" y="5826709"/>
            <a:ext cx="5161817" cy="2416473"/>
            <a:chOff x="0" y="0"/>
            <a:chExt cx="6882422" cy="322196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882385" cy="3221863"/>
            </a:xfrm>
            <a:custGeom>
              <a:avLst/>
              <a:gdLst/>
              <a:ahLst/>
              <a:cxnLst/>
              <a:rect r="r" b="b" t="t" l="l"/>
              <a:pathLst>
                <a:path h="3221863" w="6882385">
                  <a:moveTo>
                    <a:pt x="0" y="536956"/>
                  </a:moveTo>
                  <a:cubicBezTo>
                    <a:pt x="0" y="240411"/>
                    <a:pt x="240411" y="0"/>
                    <a:pt x="536956" y="0"/>
                  </a:cubicBezTo>
                  <a:lnTo>
                    <a:pt x="6345428" y="0"/>
                  </a:lnTo>
                  <a:cubicBezTo>
                    <a:pt x="6641973" y="0"/>
                    <a:pt x="6882385" y="240411"/>
                    <a:pt x="6882385" y="536956"/>
                  </a:cubicBezTo>
                  <a:lnTo>
                    <a:pt x="6882385" y="2684907"/>
                  </a:lnTo>
                  <a:cubicBezTo>
                    <a:pt x="6882385" y="2981452"/>
                    <a:pt x="6641973" y="3221863"/>
                    <a:pt x="6345428" y="3221863"/>
                  </a:cubicBezTo>
                  <a:lnTo>
                    <a:pt x="536956" y="3221863"/>
                  </a:lnTo>
                  <a:cubicBezTo>
                    <a:pt x="240411" y="3221990"/>
                    <a:pt x="0" y="2981579"/>
                    <a:pt x="0" y="2684907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EE5F0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3912118" y="5833853"/>
            <a:ext cx="123539" cy="2402176"/>
            <a:chOff x="0" y="0"/>
            <a:chExt cx="164719" cy="320290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64719" cy="3202940"/>
            </a:xfrm>
            <a:custGeom>
              <a:avLst/>
              <a:gdLst/>
              <a:ahLst/>
              <a:cxnLst/>
              <a:rect r="r" b="b" t="t" l="l"/>
              <a:pathLst>
                <a:path h="3202940" w="164719">
                  <a:moveTo>
                    <a:pt x="0" y="0"/>
                  </a:moveTo>
                  <a:lnTo>
                    <a:pt x="164719" y="0"/>
                  </a:lnTo>
                  <a:lnTo>
                    <a:pt x="164719" y="3202940"/>
                  </a:lnTo>
                  <a:lnTo>
                    <a:pt x="0" y="3202940"/>
                  </a:lnTo>
                  <a:close/>
                </a:path>
              </a:pathLst>
            </a:custGeom>
            <a:solidFill>
              <a:srgbClr val="16865B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4250684" y="6117517"/>
            <a:ext cx="4525299" cy="503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172B4D"/>
                </a:solidFill>
                <a:latin typeface="Aptos Bold"/>
                <a:ea typeface="Aptos Bold"/>
                <a:cs typeface="Aptos Bold"/>
                <a:sym typeface="Aptos Bold"/>
              </a:rPr>
              <a:t>API errors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250684" y="6821776"/>
            <a:ext cx="4497848" cy="1212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5C6B80"/>
                </a:solidFill>
                <a:latin typeface="Aptos"/>
                <a:ea typeface="Aptos"/>
                <a:cs typeface="Aptos"/>
                <a:sym typeface="Aptos"/>
              </a:rPr>
              <a:t>Connection and HTTP errors are caught and displayed.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327023" y="5826709"/>
            <a:ext cx="5161817" cy="2416473"/>
            <a:chOff x="0" y="0"/>
            <a:chExt cx="6882422" cy="322196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882385" cy="3221863"/>
            </a:xfrm>
            <a:custGeom>
              <a:avLst/>
              <a:gdLst/>
              <a:ahLst/>
              <a:cxnLst/>
              <a:rect r="r" b="b" t="t" l="l"/>
              <a:pathLst>
                <a:path h="3221863" w="6882385">
                  <a:moveTo>
                    <a:pt x="0" y="536956"/>
                  </a:moveTo>
                  <a:cubicBezTo>
                    <a:pt x="0" y="240411"/>
                    <a:pt x="240411" y="0"/>
                    <a:pt x="536956" y="0"/>
                  </a:cubicBezTo>
                  <a:lnTo>
                    <a:pt x="6345428" y="0"/>
                  </a:lnTo>
                  <a:cubicBezTo>
                    <a:pt x="6641973" y="0"/>
                    <a:pt x="6882385" y="240411"/>
                    <a:pt x="6882385" y="536956"/>
                  </a:cubicBezTo>
                  <a:lnTo>
                    <a:pt x="6882385" y="2684907"/>
                  </a:lnTo>
                  <a:cubicBezTo>
                    <a:pt x="6882385" y="2981452"/>
                    <a:pt x="6641973" y="3221863"/>
                    <a:pt x="6345428" y="3221863"/>
                  </a:cubicBezTo>
                  <a:lnTo>
                    <a:pt x="536956" y="3221863"/>
                  </a:lnTo>
                  <a:cubicBezTo>
                    <a:pt x="240411" y="3221990"/>
                    <a:pt x="0" y="2981579"/>
                    <a:pt x="0" y="2684907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EE5F0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9334176" y="5833853"/>
            <a:ext cx="123539" cy="2402176"/>
            <a:chOff x="0" y="0"/>
            <a:chExt cx="164719" cy="320290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64719" cy="3202940"/>
            </a:xfrm>
            <a:custGeom>
              <a:avLst/>
              <a:gdLst/>
              <a:ahLst/>
              <a:cxnLst/>
              <a:rect r="r" b="b" t="t" l="l"/>
              <a:pathLst>
                <a:path h="3202940" w="164719">
                  <a:moveTo>
                    <a:pt x="0" y="0"/>
                  </a:moveTo>
                  <a:lnTo>
                    <a:pt x="164719" y="0"/>
                  </a:lnTo>
                  <a:lnTo>
                    <a:pt x="164719" y="3202940"/>
                  </a:lnTo>
                  <a:lnTo>
                    <a:pt x="0" y="3202940"/>
                  </a:lnTo>
                  <a:close/>
                </a:path>
              </a:pathLst>
            </a:custGeom>
            <a:solidFill>
              <a:srgbClr val="2457C5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9672733" y="6117517"/>
            <a:ext cx="4525299" cy="503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172B4D"/>
                </a:solidFill>
                <a:latin typeface="Aptos Bold"/>
                <a:ea typeface="Aptos Bold"/>
                <a:cs typeface="Aptos Bold"/>
                <a:sym typeface="Aptos Bold"/>
              </a:rPr>
              <a:t>Read-only API rows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672733" y="6821776"/>
            <a:ext cx="4497848" cy="1212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5C6B80"/>
                </a:solidFill>
                <a:latin typeface="Aptos"/>
                <a:ea typeface="Aptos"/>
                <a:cs typeface="Aptos"/>
                <a:sym typeface="Aptos"/>
              </a:rPr>
              <a:t>API contacts are protected from local edit/delete actions.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219627"/>
            <a:chOff x="0" y="0"/>
            <a:chExt cx="24402453" cy="2928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292862"/>
            </a:xfrm>
            <a:custGeom>
              <a:avLst/>
              <a:gdLst/>
              <a:ahLst/>
              <a:cxnLst/>
              <a:rect r="r" b="b" t="t" l="l"/>
              <a:pathLst>
                <a:path h="292862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92862"/>
                  </a:lnTo>
                  <a:lnTo>
                    <a:pt x="0" y="292862"/>
                  </a:lnTo>
                  <a:close/>
                </a:path>
              </a:pathLst>
            </a:custGeom>
            <a:solidFill>
              <a:srgbClr val="2457C5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28811" y="613096"/>
            <a:ext cx="16124387" cy="681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72B4D"/>
                </a:solidFill>
                <a:latin typeface="Aptos Bold"/>
                <a:ea typeface="Aptos Bold"/>
                <a:cs typeface="Aptos Bold"/>
                <a:sym typeface="Aptos Bold"/>
              </a:rPr>
              <a:t>Testing Performed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69997" y="1409252"/>
            <a:ext cx="15849848" cy="338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5C6B80"/>
                </a:solidFill>
                <a:latin typeface="Aptos"/>
                <a:ea typeface="Aptos"/>
                <a:cs typeface="Aptos"/>
                <a:sym typeface="Aptos"/>
              </a:rPr>
              <a:t>Basic functional checks for the application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783183" y="9755095"/>
            <a:ext cx="613181" cy="201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5C6B80"/>
                </a:solidFill>
                <a:latin typeface="Aptos"/>
                <a:ea typeface="Aptos"/>
                <a:cs typeface="Aptos"/>
                <a:sym typeface="Aptos"/>
              </a:rPr>
              <a:t>11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08554" y="2319776"/>
            <a:ext cx="15639431" cy="6634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852">
                <a:solidFill>
                  <a:srgbClr val="233044"/>
                </a:solidFill>
                <a:latin typeface="Aptos"/>
                <a:ea typeface="Aptos"/>
                <a:cs typeface="Aptos"/>
                <a:sym typeface="Aptos"/>
              </a:rPr>
              <a:t>Open the application and check that the GUI appears.</a:t>
            </a:r>
          </a:p>
          <a:p>
            <a:pPr algn="l">
              <a:lnSpc>
                <a:spcPts val="3422"/>
              </a:lnSpc>
            </a:pPr>
            <a:r>
              <a:rPr lang="en-US" sz="2852">
                <a:solidFill>
                  <a:srgbClr val="233044"/>
                </a:solidFill>
                <a:latin typeface="Aptos"/>
                <a:ea typeface="Aptos"/>
                <a:cs typeface="Aptos"/>
                <a:sym typeface="Aptos"/>
              </a:rPr>
              <a:t>Save a contact with valid name and phone details.</a:t>
            </a:r>
          </a:p>
          <a:p>
            <a:pPr algn="l">
              <a:lnSpc>
                <a:spcPts val="3422"/>
              </a:lnSpc>
            </a:pPr>
            <a:r>
              <a:rPr lang="en-US" sz="2852">
                <a:solidFill>
                  <a:srgbClr val="233044"/>
                </a:solidFill>
                <a:latin typeface="Aptos"/>
                <a:ea typeface="Aptos"/>
                <a:cs typeface="Aptos"/>
                <a:sym typeface="Aptos"/>
              </a:rPr>
              <a:t>Try saving with required fields empty and check validation.</a:t>
            </a:r>
          </a:p>
          <a:p>
            <a:pPr algn="l">
              <a:lnSpc>
                <a:spcPts val="3422"/>
              </a:lnSpc>
            </a:pPr>
            <a:r>
              <a:rPr lang="en-US" sz="2852">
                <a:solidFill>
                  <a:srgbClr val="233044"/>
                </a:solidFill>
                <a:latin typeface="Aptos"/>
                <a:ea typeface="Aptos"/>
                <a:cs typeface="Aptos"/>
                <a:sym typeface="Aptos"/>
              </a:rPr>
              <a:t>Search for a contact by name and use Show All.</a:t>
            </a:r>
          </a:p>
          <a:p>
            <a:pPr algn="l">
              <a:lnSpc>
                <a:spcPts val="3422"/>
              </a:lnSpc>
            </a:pPr>
            <a:r>
              <a:rPr lang="en-US" sz="2852">
                <a:solidFill>
                  <a:srgbClr val="233044"/>
                </a:solidFill>
                <a:latin typeface="Aptos"/>
                <a:ea typeface="Aptos"/>
                <a:cs typeface="Aptos"/>
                <a:sym typeface="Aptos"/>
              </a:rPr>
              <a:t>Select a contact and test edit and delete operations.</a:t>
            </a:r>
          </a:p>
          <a:p>
            <a:pPr algn="l">
              <a:lnSpc>
                <a:spcPts val="3422"/>
              </a:lnSpc>
            </a:pPr>
            <a:r>
              <a:rPr lang="en-US" sz="2852">
                <a:solidFill>
                  <a:srgbClr val="233044"/>
                </a:solidFill>
                <a:latin typeface="Aptos"/>
                <a:ea typeface="Aptos"/>
                <a:cs typeface="Aptos"/>
                <a:sym typeface="Aptos"/>
              </a:rPr>
              <a:t>Click Load API Contacts and check the displayed sample data.</a:t>
            </a:r>
          </a:p>
          <a:p>
            <a:pPr algn="l">
              <a:lnSpc>
                <a:spcPts val="3422"/>
              </a:lnSpc>
            </a:pPr>
            <a:r>
              <a:rPr lang="en-US" sz="2852">
                <a:solidFill>
                  <a:srgbClr val="233044"/>
                </a:solidFill>
                <a:latin typeface="Aptos"/>
                <a:ea typeface="Aptos"/>
                <a:cs typeface="Aptos"/>
                <a:sym typeface="Aptos"/>
              </a:rPr>
              <a:t>Use Show All to return to locally saved contacts.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172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71978" y="997448"/>
            <a:ext cx="15712583" cy="750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AAC6FF"/>
                </a:solidFill>
                <a:latin typeface="Aptos Bold"/>
                <a:ea typeface="Aptos Bold"/>
                <a:cs typeface="Aptos Bold"/>
                <a:sym typeface="Aptos Bold"/>
              </a:rPr>
              <a:t>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71978" y="2095586"/>
            <a:ext cx="15712583" cy="1299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45"/>
              </a:lnSpc>
            </a:pPr>
            <a:r>
              <a:rPr lang="en-US" sz="5704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Contact Book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40615" y="3674154"/>
            <a:ext cx="14888975" cy="1574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3"/>
              </a:lnSpc>
            </a:pPr>
            <a:r>
              <a:rPr lang="en-US" sz="3452">
                <a:solidFill>
                  <a:srgbClr val="DEE7F7"/>
                </a:solidFill>
                <a:latin typeface="Aptos"/>
                <a:ea typeface="Aptos"/>
                <a:cs typeface="Aptos"/>
                <a:sym typeface="Aptos"/>
              </a:rPr>
              <a:t>The project combines a simple desktop GUI, local database storage, contact management features, and basic REST API integration.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40615" y="6007703"/>
            <a:ext cx="6790211" cy="544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Future enhancements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45828" y="6780962"/>
            <a:ext cx="14678558" cy="1967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EE7F7"/>
                </a:solidFill>
                <a:latin typeface="Aptos"/>
                <a:ea typeface="Aptos"/>
                <a:cs typeface="Aptos"/>
                <a:sym typeface="Aptos"/>
              </a:rPr>
              <a:t>Import and export contacts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EE7F7"/>
                </a:solidFill>
                <a:latin typeface="Aptos"/>
                <a:ea typeface="Aptos"/>
                <a:cs typeface="Aptos"/>
                <a:sym typeface="Aptos"/>
              </a:rPr>
              <a:t>Add stronger email and phone validation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EE7F7"/>
                </a:solidFill>
                <a:latin typeface="Aptos"/>
                <a:ea typeface="Aptos"/>
                <a:cs typeface="Aptos"/>
                <a:sym typeface="Aptos"/>
              </a:rPr>
              <a:t>Add a backend API that can create and update contacts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40615" y="9439380"/>
            <a:ext cx="15026240" cy="40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AAC6FF"/>
                </a:solidFill>
                <a:latin typeface="Aptos Bold"/>
                <a:ea typeface="Aptos Bold"/>
                <a:cs typeface="Aptos Bold"/>
                <a:sym typeface="Aptos Bold"/>
              </a:rPr>
              <a:t>Thank you •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DAHYcQGk668</dc:identifier>
  <dcterms:modified xsi:type="dcterms:W3CDTF">2011-08-01T06:04:30Z</dcterms:modified>
  <cp:revision>1</cp:revision>
  <dc:title>Contact_Book_Project_Presentation.pptx</dc:title>
</cp:coreProperties>
</file>